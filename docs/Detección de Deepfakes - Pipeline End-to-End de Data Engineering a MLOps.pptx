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MiSans" charset="-122" pitchFamily="34"/>
      <p:regular r:id="rId15"/>
    </p:embeddedFont>
    <p:embeddedFont>
      <p:font typeface="Noto Sans SC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B"/>
              </a:gs>
              <a:gs pos="50000">
                <a:srgbClr val="1D293D"/>
              </a:gs>
              <a:gs pos="100000">
                <a:srgbClr val="312C85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772400" y="762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048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1524000" y="0"/>
                </a:moveTo>
                <a:lnTo>
                  <a:pt x="1524000" y="0"/>
                </a:lnTo>
                <a:cubicBezTo>
                  <a:pt x="2365118" y="0"/>
                  <a:pt x="3048000" y="682882"/>
                  <a:pt x="3048000" y="1524000"/>
                </a:cubicBezTo>
                <a:lnTo>
                  <a:pt x="3048000" y="1524000"/>
                </a:lnTo>
                <a:cubicBezTo>
                  <a:pt x="3048000" y="2365118"/>
                  <a:pt x="2365118" y="3048000"/>
                  <a:pt x="1524000" y="3048000"/>
                </a:cubicBezTo>
                <a:lnTo>
                  <a:pt x="1524000" y="3048000"/>
                </a:lnTo>
                <a:cubicBezTo>
                  <a:pt x="682882" y="3048000"/>
                  <a:pt x="0" y="2365118"/>
                  <a:pt x="0" y="1524000"/>
                </a:cubicBezTo>
                <a:lnTo>
                  <a:pt x="0" y="1524000"/>
                </a:lnTo>
                <a:cubicBezTo>
                  <a:pt x="0" y="682882"/>
                  <a:pt x="682882" y="0"/>
                  <a:pt x="15240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5" name="Shape 3"/>
          <p:cNvSpPr/>
          <p:nvPr/>
        </p:nvSpPr>
        <p:spPr>
          <a:xfrm>
            <a:off x="4669155" y="1491734"/>
            <a:ext cx="2855595" cy="464820"/>
          </a:xfrm>
          <a:custGeom>
            <a:avLst/>
            <a:gdLst/>
            <a:ahLst/>
            <a:cxnLst/>
            <a:rect l="l" t="t" r="r" b="b"/>
            <a:pathLst>
              <a:path w="2855595" h="464820">
                <a:moveTo>
                  <a:pt x="232410" y="0"/>
                </a:moveTo>
                <a:lnTo>
                  <a:pt x="2623185" y="0"/>
                </a:lnTo>
                <a:cubicBezTo>
                  <a:pt x="2751541" y="0"/>
                  <a:pt x="2855595" y="104054"/>
                  <a:pt x="2855595" y="232410"/>
                </a:cubicBezTo>
                <a:lnTo>
                  <a:pt x="2855595" y="232410"/>
                </a:lnTo>
                <a:cubicBezTo>
                  <a:pt x="2855595" y="360766"/>
                  <a:pt x="2751541" y="464820"/>
                  <a:pt x="2623185" y="464820"/>
                </a:cubicBezTo>
                <a:lnTo>
                  <a:pt x="232410" y="464820"/>
                </a:lnTo>
                <a:cubicBezTo>
                  <a:pt x="104054" y="464820"/>
                  <a:pt x="0" y="360766"/>
                  <a:pt x="0" y="232410"/>
                </a:cubicBezTo>
                <a:lnTo>
                  <a:pt x="0" y="232410"/>
                </a:lnTo>
                <a:cubicBezTo>
                  <a:pt x="0" y="104054"/>
                  <a:pt x="104053" y="0"/>
                  <a:pt x="2324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5378" y="16288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7" name="Text 5"/>
          <p:cNvSpPr/>
          <p:nvPr/>
        </p:nvSpPr>
        <p:spPr>
          <a:xfrm>
            <a:off x="5215890" y="1609844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30" kern="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&amp; MLOPS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65571" y="2188964"/>
            <a:ext cx="685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Detección de Deepfakes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>
                    <a:alpha val="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 CNNs Profundas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37071" y="3846314"/>
            <a:ext cx="571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Pipeline End-to-End: De Data Engineering con MTCNN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MLOps con Docker + FastAPI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48589" y="49128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10514" y="506527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0089" y="4931926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Luis Pereira Toledo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0089" y="5160526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Universidad del Bío-Bío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9233" y="4912876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53558" y="49128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15483" y="506527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25058" y="4931926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Diciembre 2025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5058" y="5160526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de Tesis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2571750" cy="342900"/>
          </a:xfrm>
          <a:custGeom>
            <a:avLst/>
            <a:gdLst/>
            <a:ahLst/>
            <a:cxnLst/>
            <a:rect l="l" t="t" r="r" b="b"/>
            <a:pathLst>
              <a:path w="2571750" h="342900">
                <a:moveTo>
                  <a:pt x="171450" y="0"/>
                </a:moveTo>
                <a:lnTo>
                  <a:pt x="2400300" y="0"/>
                </a:lnTo>
                <a:cubicBezTo>
                  <a:pt x="2494926" y="0"/>
                  <a:pt x="2571750" y="76824"/>
                  <a:pt x="2571750" y="171450"/>
                </a:cubicBezTo>
                <a:lnTo>
                  <a:pt x="2571750" y="171450"/>
                </a:lnTo>
                <a:cubicBezTo>
                  <a:pt x="2571750" y="266076"/>
                  <a:pt x="2494926" y="342900"/>
                  <a:pt x="240030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E0E7FF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32D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DEL SISTEMA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Arquitectura End-to-End: Del Video a la API Productiva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375410"/>
            <a:ext cx="11418570" cy="1645920"/>
          </a:xfrm>
          <a:custGeom>
            <a:avLst/>
            <a:gdLst/>
            <a:ahLst/>
            <a:cxnLst/>
            <a:rect l="l" t="t" r="r" b="b"/>
            <a:pathLst>
              <a:path w="11418570" h="1645920">
                <a:moveTo>
                  <a:pt x="152396" y="0"/>
                </a:moveTo>
                <a:lnTo>
                  <a:pt x="11266174" y="0"/>
                </a:lnTo>
                <a:cubicBezTo>
                  <a:pt x="11350340" y="0"/>
                  <a:pt x="11418570" y="68230"/>
                  <a:pt x="11418570" y="152396"/>
                </a:cubicBezTo>
                <a:lnTo>
                  <a:pt x="11418570" y="1493524"/>
                </a:lnTo>
                <a:cubicBezTo>
                  <a:pt x="11418570" y="1577690"/>
                  <a:pt x="11350340" y="1645920"/>
                  <a:pt x="11266174" y="1645920"/>
                </a:cubicBezTo>
                <a:lnTo>
                  <a:pt x="152396" y="1645920"/>
                </a:lnTo>
                <a:cubicBezTo>
                  <a:pt x="68286" y="1645920"/>
                  <a:pt x="0" y="1577634"/>
                  <a:pt x="0" y="149352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8FAFC"/>
              </a:gs>
              <a:gs pos="100000">
                <a:srgbClr val="EEF2FF"/>
              </a:gs>
            </a:gsLst>
            <a:lin ang="0" scaled="1"/>
          </a:gradFill>
          <a:ln w="1016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1462" y="16078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7FFF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97675" y="17983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79120" y="233172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Videos FF++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3883" y="25984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7,000 videos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73417" y="21031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6272" y="16078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D46FF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6772" y="1798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8"/>
                </a:moveTo>
                <a:cubicBezTo>
                  <a:pt x="57150" y="6385"/>
                  <a:pt x="50765" y="0"/>
                  <a:pt x="42863" y="0"/>
                </a:cubicBezTo>
                <a:cubicBezTo>
                  <a:pt x="34960" y="0"/>
                  <a:pt x="28575" y="6385"/>
                  <a:pt x="28575" y="14288"/>
                </a:cubicBezTo>
                <a:lnTo>
                  <a:pt x="28575" y="28575"/>
                </a:lnTo>
                <a:lnTo>
                  <a:pt x="14288" y="28575"/>
                </a:ln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28575" y="57150"/>
                </a:ln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150019" y="200025"/>
                </a:lnTo>
                <a:lnTo>
                  <a:pt x="150019" y="171450"/>
                </a:lnTo>
                <a:lnTo>
                  <a:pt x="57150" y="171450"/>
                </a:lnTo>
                <a:lnTo>
                  <a:pt x="57150" y="14288"/>
                </a:lnTo>
                <a:close/>
                <a:moveTo>
                  <a:pt x="171450" y="214313"/>
                </a:moveTo>
                <a:cubicBezTo>
                  <a:pt x="171450" y="222215"/>
                  <a:pt x="177835" y="228600"/>
                  <a:pt x="185738" y="228600"/>
                </a:cubicBezTo>
                <a:cubicBezTo>
                  <a:pt x="193640" y="228600"/>
                  <a:pt x="200025" y="222215"/>
                  <a:pt x="200025" y="214313"/>
                </a:cubicBezTo>
                <a:lnTo>
                  <a:pt x="200025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200025" y="171450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78581" y="28575"/>
                </a:lnTo>
                <a:lnTo>
                  <a:pt x="78581" y="57150"/>
                </a:lnTo>
                <a:lnTo>
                  <a:pt x="171450" y="57150"/>
                </a:lnTo>
                <a:lnTo>
                  <a:pt x="171450" y="2143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863930" y="233172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MTCNN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8692" y="25984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58345" y="21031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17" name="Shape 15"/>
          <p:cNvSpPr/>
          <p:nvPr/>
        </p:nvSpPr>
        <p:spPr>
          <a:xfrm>
            <a:off x="5791200" y="16078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339A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5988" y="17983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48858" y="233172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3620" y="25984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47,994 imágenes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43155" y="21031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22" name="Shape 20"/>
          <p:cNvSpPr/>
          <p:nvPr/>
        </p:nvSpPr>
        <p:spPr>
          <a:xfrm>
            <a:off x="8076009" y="16078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15FFF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66509" y="1798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433667" y="233172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38430" y="25984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Modelos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28083" y="21031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60939" y="16078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BBA7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565726" y="17983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718596" y="233172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23359" y="25984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Docker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810" y="379488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14303" y="0"/>
                </a:moveTo>
                <a:lnTo>
                  <a:pt x="2617467" y="0"/>
                </a:lnTo>
                <a:cubicBezTo>
                  <a:pt x="2680595" y="0"/>
                  <a:pt x="2731770" y="51175"/>
                  <a:pt x="2731770" y="114303"/>
                </a:cubicBezTo>
                <a:lnTo>
                  <a:pt x="2731770" y="1112517"/>
                </a:lnTo>
                <a:cubicBezTo>
                  <a:pt x="2731770" y="1175603"/>
                  <a:pt x="2680553" y="1226820"/>
                  <a:pt x="26174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9120" y="39891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33" name="Shape 31"/>
          <p:cNvSpPr/>
          <p:nvPr/>
        </p:nvSpPr>
        <p:spPr>
          <a:xfrm>
            <a:off x="683895" y="410348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28575"/>
                </a:moveTo>
                <a:cubicBezTo>
                  <a:pt x="28575" y="18068"/>
                  <a:pt x="37118" y="9525"/>
                  <a:pt x="47625" y="9525"/>
                </a:cubicBezTo>
                <a:lnTo>
                  <a:pt x="142875" y="9525"/>
                </a:lnTo>
                <a:cubicBezTo>
                  <a:pt x="153382" y="9525"/>
                  <a:pt x="161925" y="18068"/>
                  <a:pt x="161925" y="28575"/>
                </a:cubicBezTo>
                <a:lnTo>
                  <a:pt x="161925" y="104775"/>
                </a:lnTo>
                <a:cubicBezTo>
                  <a:pt x="161925" y="115282"/>
                  <a:pt x="153382" y="123825"/>
                  <a:pt x="142875" y="123825"/>
                </a:cubicBezTo>
                <a:lnTo>
                  <a:pt x="47625" y="123825"/>
                </a:lnTo>
                <a:cubicBezTo>
                  <a:pt x="37118" y="123825"/>
                  <a:pt x="28575" y="115282"/>
                  <a:pt x="28575" y="104775"/>
                </a:cubicBezTo>
                <a:lnTo>
                  <a:pt x="28575" y="28575"/>
                </a:lnTo>
                <a:close/>
                <a:moveTo>
                  <a:pt x="7144" y="38100"/>
                </a:moveTo>
                <a:cubicBezTo>
                  <a:pt x="11103" y="38100"/>
                  <a:pt x="14288" y="41285"/>
                  <a:pt x="14288" y="45244"/>
                </a:cubicBezTo>
                <a:lnTo>
                  <a:pt x="14288" y="133350"/>
                </a:lnTo>
                <a:cubicBezTo>
                  <a:pt x="14288" y="135969"/>
                  <a:pt x="16431" y="138113"/>
                  <a:pt x="19050" y="138113"/>
                </a:cubicBezTo>
                <a:lnTo>
                  <a:pt x="126206" y="138113"/>
                </a:lnTo>
                <a:cubicBezTo>
                  <a:pt x="130165" y="138113"/>
                  <a:pt x="133350" y="141297"/>
                  <a:pt x="133350" y="145256"/>
                </a:cubicBezTo>
                <a:cubicBezTo>
                  <a:pt x="133350" y="149215"/>
                  <a:pt x="130165" y="152400"/>
                  <a:pt x="126206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45244"/>
                </a:lnTo>
                <a:cubicBezTo>
                  <a:pt x="0" y="41285"/>
                  <a:pt x="3185" y="38100"/>
                  <a:pt x="7144" y="38100"/>
                </a:cubicBezTo>
                <a:close/>
                <a:moveTo>
                  <a:pt x="57150" y="47625"/>
                </a:moveTo>
                <a:cubicBezTo>
                  <a:pt x="62407" y="47625"/>
                  <a:pt x="66675" y="43357"/>
                  <a:pt x="66675" y="38100"/>
                </a:cubicBezTo>
                <a:cubicBezTo>
                  <a:pt x="66675" y="32843"/>
                  <a:pt x="62407" y="28575"/>
                  <a:pt x="57150" y="28575"/>
                </a:cubicBezTo>
                <a:cubicBezTo>
                  <a:pt x="51893" y="28575"/>
                  <a:pt x="47625" y="32843"/>
                  <a:pt x="47625" y="38100"/>
                </a:cubicBezTo>
                <a:cubicBezTo>
                  <a:pt x="47625" y="43357"/>
                  <a:pt x="51893" y="47625"/>
                  <a:pt x="57150" y="47625"/>
                </a:cubicBezTo>
                <a:close/>
                <a:moveTo>
                  <a:pt x="115639" y="51048"/>
                </a:moveTo>
                <a:cubicBezTo>
                  <a:pt x="114330" y="48935"/>
                  <a:pt x="112038" y="47625"/>
                  <a:pt x="109537" y="47625"/>
                </a:cubicBezTo>
                <a:cubicBezTo>
                  <a:pt x="107037" y="47625"/>
                  <a:pt x="104745" y="48935"/>
                  <a:pt x="103436" y="51048"/>
                </a:cubicBezTo>
                <a:lnTo>
                  <a:pt x="86678" y="78462"/>
                </a:lnTo>
                <a:lnTo>
                  <a:pt x="79385" y="69354"/>
                </a:lnTo>
                <a:cubicBezTo>
                  <a:pt x="78016" y="67657"/>
                  <a:pt x="75992" y="66675"/>
                  <a:pt x="73819" y="66675"/>
                </a:cubicBezTo>
                <a:cubicBezTo>
                  <a:pt x="71646" y="66675"/>
                  <a:pt x="69592" y="67657"/>
                  <a:pt x="68253" y="69354"/>
                </a:cubicBezTo>
                <a:lnTo>
                  <a:pt x="49203" y="93166"/>
                </a:lnTo>
                <a:cubicBezTo>
                  <a:pt x="47476" y="95310"/>
                  <a:pt x="47149" y="98256"/>
                  <a:pt x="48339" y="100727"/>
                </a:cubicBezTo>
                <a:cubicBezTo>
                  <a:pt x="49530" y="103197"/>
                  <a:pt x="52030" y="104775"/>
                  <a:pt x="54769" y="104775"/>
                </a:cubicBezTo>
                <a:lnTo>
                  <a:pt x="135731" y="104775"/>
                </a:lnTo>
                <a:cubicBezTo>
                  <a:pt x="138321" y="104775"/>
                  <a:pt x="140702" y="103376"/>
                  <a:pt x="141952" y="101114"/>
                </a:cubicBezTo>
                <a:cubicBezTo>
                  <a:pt x="143202" y="98852"/>
                  <a:pt x="143173" y="96113"/>
                  <a:pt x="141803" y="93881"/>
                </a:cubicBezTo>
                <a:lnTo>
                  <a:pt x="115610" y="51018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74420" y="4008239"/>
            <a:ext cx="1019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47,994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9120" y="4446389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procesadas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9120" y="4674989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FaceForensics++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80410" y="379488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14303" y="0"/>
                </a:moveTo>
                <a:lnTo>
                  <a:pt x="2617467" y="0"/>
                </a:lnTo>
                <a:cubicBezTo>
                  <a:pt x="2680595" y="0"/>
                  <a:pt x="2731770" y="51175"/>
                  <a:pt x="2731770" y="114303"/>
                </a:cubicBezTo>
                <a:lnTo>
                  <a:pt x="2731770" y="1112517"/>
                </a:lnTo>
                <a:cubicBezTo>
                  <a:pt x="2731770" y="1175603"/>
                  <a:pt x="2680553" y="1226820"/>
                  <a:pt x="26174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0" y="39891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589020" y="410348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0" name="Text 38"/>
          <p:cNvSpPr/>
          <p:nvPr/>
        </p:nvSpPr>
        <p:spPr>
          <a:xfrm>
            <a:off x="3970020" y="4008239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474720" y="4446389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474720" y="4674989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CNNs + ResNet18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6010" y="379488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14303" y="0"/>
                </a:moveTo>
                <a:lnTo>
                  <a:pt x="2617467" y="0"/>
                </a:lnTo>
                <a:cubicBezTo>
                  <a:pt x="2680595" y="0"/>
                  <a:pt x="2731770" y="51175"/>
                  <a:pt x="2731770" y="114303"/>
                </a:cubicBezTo>
                <a:lnTo>
                  <a:pt x="2731770" y="1112517"/>
                </a:lnTo>
                <a:cubicBezTo>
                  <a:pt x="2731770" y="1175603"/>
                  <a:pt x="2680553" y="1226820"/>
                  <a:pt x="26174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70320" y="39891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45" name="Shape 43"/>
          <p:cNvSpPr/>
          <p:nvPr/>
        </p:nvSpPr>
        <p:spPr>
          <a:xfrm>
            <a:off x="6494145" y="410348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6" name="Text 44"/>
          <p:cNvSpPr/>
          <p:nvPr/>
        </p:nvSpPr>
        <p:spPr>
          <a:xfrm>
            <a:off x="6865620" y="4008239"/>
            <a:ext cx="1114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88.67%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70320" y="4446389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70320" y="4674989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ResNet18 final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71610" y="379488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14303" y="0"/>
                </a:moveTo>
                <a:lnTo>
                  <a:pt x="2617467" y="0"/>
                </a:lnTo>
                <a:cubicBezTo>
                  <a:pt x="2680595" y="0"/>
                  <a:pt x="2731770" y="51175"/>
                  <a:pt x="2731770" y="114303"/>
                </a:cubicBezTo>
                <a:lnTo>
                  <a:pt x="2731770" y="1112517"/>
                </a:lnTo>
                <a:cubicBezTo>
                  <a:pt x="2731770" y="1175603"/>
                  <a:pt x="2680553" y="1226820"/>
                  <a:pt x="26174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65920" y="39891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BFBF1"/>
          </a:solidFill>
          <a:ln/>
        </p:spPr>
      </p:sp>
      <p:sp>
        <p:nvSpPr>
          <p:cNvPr id="51" name="Shape 49"/>
          <p:cNvSpPr/>
          <p:nvPr/>
        </p:nvSpPr>
        <p:spPr>
          <a:xfrm>
            <a:off x="9380220" y="410348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009689"/>
          </a:solidFill>
          <a:ln/>
        </p:spPr>
      </p:sp>
      <p:sp>
        <p:nvSpPr>
          <p:cNvPr id="52" name="Text 50"/>
          <p:cNvSpPr/>
          <p:nvPr/>
        </p:nvSpPr>
        <p:spPr>
          <a:xfrm>
            <a:off x="9761220" y="4008239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65920" y="4446389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externa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65920" y="4674989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Fotos de amigos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1000" y="5791320"/>
            <a:ext cx="3705225" cy="685800"/>
          </a:xfrm>
          <a:custGeom>
            <a:avLst/>
            <a:gdLst/>
            <a:ahLst/>
            <a:cxnLst/>
            <a:rect l="l" t="t" r="r" b="b"/>
            <a:pathLst>
              <a:path w="3705225" h="685800">
                <a:moveTo>
                  <a:pt x="76199" y="0"/>
                </a:moveTo>
                <a:lnTo>
                  <a:pt x="3629026" y="0"/>
                </a:lnTo>
                <a:cubicBezTo>
                  <a:pt x="3671109" y="0"/>
                  <a:pt x="3705225" y="34116"/>
                  <a:pt x="3705225" y="76199"/>
                </a:cubicBezTo>
                <a:lnTo>
                  <a:pt x="3705225" y="609601"/>
                </a:lnTo>
                <a:cubicBezTo>
                  <a:pt x="3705225" y="651684"/>
                  <a:pt x="3671109" y="685800"/>
                  <a:pt x="3629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6" name="Shape 54"/>
          <p:cNvSpPr/>
          <p:nvPr/>
        </p:nvSpPr>
        <p:spPr>
          <a:xfrm>
            <a:off x="552450" y="5981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7" name="Text 55"/>
          <p:cNvSpPr/>
          <p:nvPr/>
        </p:nvSpPr>
        <p:spPr>
          <a:xfrm>
            <a:off x="838200" y="5943720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8200" y="6172320"/>
            <a:ext cx="279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automatizado con MTCNN y filtros de calidad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41721" y="5791320"/>
            <a:ext cx="3705225" cy="685800"/>
          </a:xfrm>
          <a:custGeom>
            <a:avLst/>
            <a:gdLst/>
            <a:ahLst/>
            <a:cxnLst/>
            <a:rect l="l" t="t" r="r" b="b"/>
            <a:pathLst>
              <a:path w="3705225" h="685800">
                <a:moveTo>
                  <a:pt x="76199" y="0"/>
                </a:moveTo>
                <a:lnTo>
                  <a:pt x="3629026" y="0"/>
                </a:lnTo>
                <a:cubicBezTo>
                  <a:pt x="3671109" y="0"/>
                  <a:pt x="3705225" y="34116"/>
                  <a:pt x="3705225" y="76199"/>
                </a:cubicBezTo>
                <a:lnTo>
                  <a:pt x="3705225" y="609601"/>
                </a:lnTo>
                <a:cubicBezTo>
                  <a:pt x="3705225" y="651684"/>
                  <a:pt x="3671109" y="685800"/>
                  <a:pt x="3629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0" name="Shape 58"/>
          <p:cNvSpPr/>
          <p:nvPr/>
        </p:nvSpPr>
        <p:spPr>
          <a:xfrm>
            <a:off x="4413171" y="5981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1" name="Text 59"/>
          <p:cNvSpPr/>
          <p:nvPr/>
        </p:nvSpPr>
        <p:spPr>
          <a:xfrm>
            <a:off x="4698921" y="5943720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Modelado Comparativo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698921" y="6172320"/>
            <a:ext cx="2781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sistemática de 3 arquitecturas en PyTorch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02561" y="5791320"/>
            <a:ext cx="3705225" cy="685800"/>
          </a:xfrm>
          <a:custGeom>
            <a:avLst/>
            <a:gdLst/>
            <a:ahLst/>
            <a:cxnLst/>
            <a:rect l="l" t="t" r="r" b="b"/>
            <a:pathLst>
              <a:path w="3705225" h="685800">
                <a:moveTo>
                  <a:pt x="76199" y="0"/>
                </a:moveTo>
                <a:lnTo>
                  <a:pt x="3629026" y="0"/>
                </a:lnTo>
                <a:cubicBezTo>
                  <a:pt x="3671109" y="0"/>
                  <a:pt x="3705225" y="34116"/>
                  <a:pt x="3705225" y="76199"/>
                </a:cubicBezTo>
                <a:lnTo>
                  <a:pt x="3705225" y="609601"/>
                </a:lnTo>
                <a:cubicBezTo>
                  <a:pt x="3705225" y="651684"/>
                  <a:pt x="3671109" y="685800"/>
                  <a:pt x="3629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4" name="Shape 62"/>
          <p:cNvSpPr/>
          <p:nvPr/>
        </p:nvSpPr>
        <p:spPr>
          <a:xfrm>
            <a:off x="8274011" y="5981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5" name="Text 63"/>
          <p:cNvSpPr/>
          <p:nvPr/>
        </p:nvSpPr>
        <p:spPr>
          <a:xfrm>
            <a:off x="8559761" y="5943720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MLOps Completo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59761" y="6172320"/>
            <a:ext cx="243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REST containerizada lista para producción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1852299" cy="331755"/>
          </a:xfrm>
          <a:custGeom>
            <a:avLst/>
            <a:gdLst/>
            <a:ahLst/>
            <a:cxnLst/>
            <a:rect l="l" t="t" r="r" b="b"/>
            <a:pathLst>
              <a:path w="1852299" h="331755">
                <a:moveTo>
                  <a:pt x="165878" y="0"/>
                </a:moveTo>
                <a:lnTo>
                  <a:pt x="1686422" y="0"/>
                </a:lnTo>
                <a:cubicBezTo>
                  <a:pt x="1778033" y="0"/>
                  <a:pt x="1852299" y="74266"/>
                  <a:pt x="1852299" y="165878"/>
                </a:cubicBezTo>
                <a:lnTo>
                  <a:pt x="1852299" y="165878"/>
                </a:lnTo>
                <a:cubicBezTo>
                  <a:pt x="1852299" y="257489"/>
                  <a:pt x="1778033" y="331755"/>
                  <a:pt x="1686422" y="331755"/>
                </a:cubicBezTo>
                <a:lnTo>
                  <a:pt x="165878" y="331755"/>
                </a:lnTo>
                <a:cubicBezTo>
                  <a:pt x="74327" y="331755"/>
                  <a:pt x="0" y="257428"/>
                  <a:pt x="0" y="165878"/>
                </a:cubicBezTo>
                <a:lnTo>
                  <a:pt x="0" y="165878"/>
                </a:lnTo>
                <a:cubicBezTo>
                  <a:pt x="0" y="74327"/>
                  <a:pt x="74327" y="0"/>
                  <a:pt x="165878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516063" y="460771"/>
            <a:ext cx="184308" cy="147447"/>
          </a:xfrm>
          <a:custGeom>
            <a:avLst/>
            <a:gdLst/>
            <a:ahLst/>
            <a:cxnLst/>
            <a:rect l="l" t="t" r="r" b="b"/>
            <a:pathLst>
              <a:path w="184308" h="147447">
                <a:moveTo>
                  <a:pt x="119772" y="60620"/>
                </a:moveTo>
                <a:cubicBezTo>
                  <a:pt x="123285" y="59670"/>
                  <a:pt x="126971" y="61340"/>
                  <a:pt x="128555" y="64594"/>
                </a:cubicBezTo>
                <a:lnTo>
                  <a:pt x="133912" y="75422"/>
                </a:lnTo>
                <a:cubicBezTo>
                  <a:pt x="136878" y="75826"/>
                  <a:pt x="139786" y="76632"/>
                  <a:pt x="142522" y="77755"/>
                </a:cubicBezTo>
                <a:lnTo>
                  <a:pt x="152602" y="71045"/>
                </a:lnTo>
                <a:cubicBezTo>
                  <a:pt x="155625" y="69029"/>
                  <a:pt x="159628" y="69432"/>
                  <a:pt x="162191" y="71995"/>
                </a:cubicBezTo>
                <a:lnTo>
                  <a:pt x="167721" y="77525"/>
                </a:lnTo>
                <a:cubicBezTo>
                  <a:pt x="170284" y="80088"/>
                  <a:pt x="170687" y="84120"/>
                  <a:pt x="168671" y="87115"/>
                </a:cubicBezTo>
                <a:lnTo>
                  <a:pt x="161961" y="97165"/>
                </a:lnTo>
                <a:cubicBezTo>
                  <a:pt x="162508" y="98519"/>
                  <a:pt x="162998" y="99930"/>
                  <a:pt x="163401" y="101398"/>
                </a:cubicBezTo>
                <a:cubicBezTo>
                  <a:pt x="163804" y="102867"/>
                  <a:pt x="164063" y="104307"/>
                  <a:pt x="164265" y="105776"/>
                </a:cubicBezTo>
                <a:lnTo>
                  <a:pt x="175122" y="111132"/>
                </a:lnTo>
                <a:cubicBezTo>
                  <a:pt x="178376" y="112745"/>
                  <a:pt x="180046" y="116431"/>
                  <a:pt x="179096" y="119916"/>
                </a:cubicBezTo>
                <a:lnTo>
                  <a:pt x="177080" y="127461"/>
                </a:lnTo>
                <a:cubicBezTo>
                  <a:pt x="176130" y="130945"/>
                  <a:pt x="172876" y="133307"/>
                  <a:pt x="169247" y="133076"/>
                </a:cubicBezTo>
                <a:lnTo>
                  <a:pt x="157152" y="132299"/>
                </a:lnTo>
                <a:cubicBezTo>
                  <a:pt x="155337" y="134632"/>
                  <a:pt x="153235" y="136791"/>
                  <a:pt x="150845" y="138634"/>
                </a:cubicBezTo>
                <a:lnTo>
                  <a:pt x="151622" y="150701"/>
                </a:lnTo>
                <a:cubicBezTo>
                  <a:pt x="151853" y="154329"/>
                  <a:pt x="149491" y="157612"/>
                  <a:pt x="146007" y="158534"/>
                </a:cubicBezTo>
                <a:lnTo>
                  <a:pt x="138462" y="160550"/>
                </a:lnTo>
                <a:cubicBezTo>
                  <a:pt x="134948" y="161500"/>
                  <a:pt x="131291" y="159830"/>
                  <a:pt x="129678" y="156576"/>
                </a:cubicBezTo>
                <a:lnTo>
                  <a:pt x="124322" y="145748"/>
                </a:lnTo>
                <a:cubicBezTo>
                  <a:pt x="121356" y="145344"/>
                  <a:pt x="118447" y="144538"/>
                  <a:pt x="115711" y="143415"/>
                </a:cubicBezTo>
                <a:lnTo>
                  <a:pt x="105632" y="150125"/>
                </a:lnTo>
                <a:cubicBezTo>
                  <a:pt x="102608" y="152141"/>
                  <a:pt x="98605" y="151738"/>
                  <a:pt x="96042" y="149175"/>
                </a:cubicBezTo>
                <a:lnTo>
                  <a:pt x="90513" y="143645"/>
                </a:lnTo>
                <a:cubicBezTo>
                  <a:pt x="87950" y="141082"/>
                  <a:pt x="87546" y="137079"/>
                  <a:pt x="89562" y="134056"/>
                </a:cubicBezTo>
                <a:lnTo>
                  <a:pt x="96272" y="123976"/>
                </a:lnTo>
                <a:cubicBezTo>
                  <a:pt x="95725" y="122623"/>
                  <a:pt x="95236" y="121212"/>
                  <a:pt x="94832" y="119743"/>
                </a:cubicBezTo>
                <a:cubicBezTo>
                  <a:pt x="94429" y="118274"/>
                  <a:pt x="94170" y="116805"/>
                  <a:pt x="93968" y="115366"/>
                </a:cubicBezTo>
                <a:lnTo>
                  <a:pt x="83112" y="110009"/>
                </a:lnTo>
                <a:cubicBezTo>
                  <a:pt x="79857" y="108396"/>
                  <a:pt x="78216" y="104710"/>
                  <a:pt x="79137" y="101226"/>
                </a:cubicBezTo>
                <a:lnTo>
                  <a:pt x="81153" y="93680"/>
                </a:lnTo>
                <a:cubicBezTo>
                  <a:pt x="82104" y="90196"/>
                  <a:pt x="85358" y="87834"/>
                  <a:pt x="88986" y="88065"/>
                </a:cubicBezTo>
                <a:lnTo>
                  <a:pt x="101053" y="88842"/>
                </a:lnTo>
                <a:cubicBezTo>
                  <a:pt x="102867" y="86510"/>
                  <a:pt x="104969" y="84350"/>
                  <a:pt x="107360" y="82507"/>
                </a:cubicBezTo>
                <a:lnTo>
                  <a:pt x="106582" y="70469"/>
                </a:lnTo>
                <a:cubicBezTo>
                  <a:pt x="106352" y="66841"/>
                  <a:pt x="108713" y="63558"/>
                  <a:pt x="112198" y="62636"/>
                </a:cubicBezTo>
                <a:lnTo>
                  <a:pt x="119743" y="60620"/>
                </a:lnTo>
                <a:close/>
                <a:moveTo>
                  <a:pt x="129131" y="97914"/>
                </a:moveTo>
                <a:cubicBezTo>
                  <a:pt x="122138" y="97922"/>
                  <a:pt x="116466" y="103606"/>
                  <a:pt x="116474" y="110599"/>
                </a:cubicBezTo>
                <a:cubicBezTo>
                  <a:pt x="116482" y="117593"/>
                  <a:pt x="122166" y="123264"/>
                  <a:pt x="129160" y="123256"/>
                </a:cubicBezTo>
                <a:cubicBezTo>
                  <a:pt x="136153" y="123248"/>
                  <a:pt x="141825" y="117564"/>
                  <a:pt x="141817" y="110571"/>
                </a:cubicBezTo>
                <a:cubicBezTo>
                  <a:pt x="141809" y="103577"/>
                  <a:pt x="136124" y="97906"/>
                  <a:pt x="129131" y="97914"/>
                </a:cubicBezTo>
                <a:close/>
                <a:moveTo>
                  <a:pt x="64767" y="-13103"/>
                </a:moveTo>
                <a:lnTo>
                  <a:pt x="72312" y="-11087"/>
                </a:lnTo>
                <a:cubicBezTo>
                  <a:pt x="75797" y="-10137"/>
                  <a:pt x="78158" y="-6854"/>
                  <a:pt x="77928" y="-3254"/>
                </a:cubicBezTo>
                <a:lnTo>
                  <a:pt x="77150" y="8783"/>
                </a:lnTo>
                <a:cubicBezTo>
                  <a:pt x="79541" y="10627"/>
                  <a:pt x="81643" y="12758"/>
                  <a:pt x="83457" y="15119"/>
                </a:cubicBezTo>
                <a:lnTo>
                  <a:pt x="95552" y="14341"/>
                </a:lnTo>
                <a:cubicBezTo>
                  <a:pt x="99152" y="14111"/>
                  <a:pt x="102435" y="16473"/>
                  <a:pt x="103385" y="19957"/>
                </a:cubicBezTo>
                <a:lnTo>
                  <a:pt x="105401" y="27502"/>
                </a:lnTo>
                <a:cubicBezTo>
                  <a:pt x="106323" y="30987"/>
                  <a:pt x="104681" y="34673"/>
                  <a:pt x="101427" y="36286"/>
                </a:cubicBezTo>
                <a:lnTo>
                  <a:pt x="90570" y="41642"/>
                </a:lnTo>
                <a:cubicBezTo>
                  <a:pt x="90369" y="43111"/>
                  <a:pt x="90081" y="44580"/>
                  <a:pt x="89706" y="46020"/>
                </a:cubicBezTo>
                <a:cubicBezTo>
                  <a:pt x="89332" y="47459"/>
                  <a:pt x="88814" y="48899"/>
                  <a:pt x="88266" y="50253"/>
                </a:cubicBezTo>
                <a:lnTo>
                  <a:pt x="94976" y="60332"/>
                </a:lnTo>
                <a:cubicBezTo>
                  <a:pt x="96992" y="63356"/>
                  <a:pt x="96589" y="67359"/>
                  <a:pt x="94026" y="69922"/>
                </a:cubicBezTo>
                <a:lnTo>
                  <a:pt x="88497" y="75451"/>
                </a:lnTo>
                <a:cubicBezTo>
                  <a:pt x="85934" y="78014"/>
                  <a:pt x="81931" y="78417"/>
                  <a:pt x="78907" y="76402"/>
                </a:cubicBezTo>
                <a:lnTo>
                  <a:pt x="68828" y="69692"/>
                </a:lnTo>
                <a:cubicBezTo>
                  <a:pt x="66092" y="70815"/>
                  <a:pt x="63183" y="71621"/>
                  <a:pt x="60217" y="72024"/>
                </a:cubicBezTo>
                <a:lnTo>
                  <a:pt x="54861" y="82852"/>
                </a:lnTo>
                <a:cubicBezTo>
                  <a:pt x="53248" y="86107"/>
                  <a:pt x="49562" y="87748"/>
                  <a:pt x="46077" y="86827"/>
                </a:cubicBezTo>
                <a:lnTo>
                  <a:pt x="38532" y="84811"/>
                </a:lnTo>
                <a:cubicBezTo>
                  <a:pt x="35019" y="83860"/>
                  <a:pt x="32686" y="80577"/>
                  <a:pt x="32916" y="76978"/>
                </a:cubicBezTo>
                <a:lnTo>
                  <a:pt x="33694" y="64911"/>
                </a:lnTo>
                <a:cubicBezTo>
                  <a:pt x="31304" y="63068"/>
                  <a:pt x="29201" y="60937"/>
                  <a:pt x="27387" y="58576"/>
                </a:cubicBezTo>
                <a:lnTo>
                  <a:pt x="15292" y="59353"/>
                </a:lnTo>
                <a:cubicBezTo>
                  <a:pt x="11692" y="59583"/>
                  <a:pt x="8409" y="57222"/>
                  <a:pt x="7459" y="53737"/>
                </a:cubicBezTo>
                <a:lnTo>
                  <a:pt x="5443" y="46192"/>
                </a:lnTo>
                <a:cubicBezTo>
                  <a:pt x="4521" y="42708"/>
                  <a:pt x="6163" y="39022"/>
                  <a:pt x="9417" y="37409"/>
                </a:cubicBezTo>
                <a:lnTo>
                  <a:pt x="20274" y="32052"/>
                </a:lnTo>
                <a:cubicBezTo>
                  <a:pt x="20476" y="30584"/>
                  <a:pt x="20763" y="29144"/>
                  <a:pt x="21138" y="27675"/>
                </a:cubicBezTo>
                <a:cubicBezTo>
                  <a:pt x="21541" y="26206"/>
                  <a:pt x="22002" y="24795"/>
                  <a:pt x="22578" y="23442"/>
                </a:cubicBezTo>
                <a:lnTo>
                  <a:pt x="15868" y="13391"/>
                </a:lnTo>
                <a:cubicBezTo>
                  <a:pt x="13852" y="10367"/>
                  <a:pt x="14255" y="6364"/>
                  <a:pt x="16818" y="3801"/>
                </a:cubicBezTo>
                <a:lnTo>
                  <a:pt x="22347" y="-1728"/>
                </a:lnTo>
                <a:cubicBezTo>
                  <a:pt x="24910" y="-4291"/>
                  <a:pt x="28913" y="-4694"/>
                  <a:pt x="31937" y="-2678"/>
                </a:cubicBezTo>
                <a:lnTo>
                  <a:pt x="42017" y="4032"/>
                </a:lnTo>
                <a:cubicBezTo>
                  <a:pt x="44752" y="2909"/>
                  <a:pt x="47661" y="2102"/>
                  <a:pt x="50627" y="1699"/>
                </a:cubicBezTo>
                <a:lnTo>
                  <a:pt x="55984" y="-9129"/>
                </a:lnTo>
                <a:cubicBezTo>
                  <a:pt x="57596" y="-12383"/>
                  <a:pt x="61254" y="-14025"/>
                  <a:pt x="64767" y="-13103"/>
                </a:cubicBezTo>
                <a:close/>
                <a:moveTo>
                  <a:pt x="55408" y="24190"/>
                </a:moveTo>
                <a:cubicBezTo>
                  <a:pt x="48414" y="24190"/>
                  <a:pt x="42737" y="29868"/>
                  <a:pt x="42737" y="36862"/>
                </a:cubicBezTo>
                <a:cubicBezTo>
                  <a:pt x="42737" y="43855"/>
                  <a:pt x="48414" y="49533"/>
                  <a:pt x="55408" y="49533"/>
                </a:cubicBezTo>
                <a:cubicBezTo>
                  <a:pt x="62401" y="49533"/>
                  <a:pt x="68079" y="43855"/>
                  <a:pt x="68079" y="36862"/>
                </a:cubicBezTo>
                <a:cubicBezTo>
                  <a:pt x="68079" y="29868"/>
                  <a:pt x="62401" y="24190"/>
                  <a:pt x="55408" y="2419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4" name="Text 2"/>
          <p:cNvSpPr/>
          <p:nvPr/>
        </p:nvSpPr>
        <p:spPr>
          <a:xfrm>
            <a:off x="774095" y="442340"/>
            <a:ext cx="136388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617" y="810957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Pipeline de Preprocesamiento con MTCNN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7048" y="1327020"/>
            <a:ext cx="5612190" cy="1032127"/>
          </a:xfrm>
          <a:custGeom>
            <a:avLst/>
            <a:gdLst/>
            <a:ahLst/>
            <a:cxnLst/>
            <a:rect l="l" t="t" r="r" b="b"/>
            <a:pathLst>
              <a:path w="5612190" h="1032127">
                <a:moveTo>
                  <a:pt x="36862" y="0"/>
                </a:moveTo>
                <a:lnTo>
                  <a:pt x="5501608" y="0"/>
                </a:lnTo>
                <a:cubicBezTo>
                  <a:pt x="5562681" y="0"/>
                  <a:pt x="5612190" y="49509"/>
                  <a:pt x="5612190" y="110582"/>
                </a:cubicBezTo>
                <a:lnTo>
                  <a:pt x="5612190" y="921545"/>
                </a:lnTo>
                <a:cubicBezTo>
                  <a:pt x="5612190" y="982618"/>
                  <a:pt x="5562681" y="1032127"/>
                  <a:pt x="5501608" y="1032127"/>
                </a:cubicBez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7048" y="1327020"/>
            <a:ext cx="36862" cy="1032127"/>
          </a:xfrm>
          <a:custGeom>
            <a:avLst/>
            <a:gdLst/>
            <a:ahLst/>
            <a:cxnLst/>
            <a:rect l="l" t="t" r="r" b="b"/>
            <a:pathLst>
              <a:path w="36862" h="1032127">
                <a:moveTo>
                  <a:pt x="36862" y="0"/>
                </a:moveTo>
                <a:lnTo>
                  <a:pt x="36862" y="0"/>
                </a:lnTo>
                <a:lnTo>
                  <a:pt x="36862" y="1032127"/>
                </a:ln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8" name="Shape 6"/>
          <p:cNvSpPr/>
          <p:nvPr/>
        </p:nvSpPr>
        <p:spPr>
          <a:xfrm>
            <a:off x="552925" y="1474467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9" name="Text 7"/>
          <p:cNvSpPr/>
          <p:nvPr/>
        </p:nvSpPr>
        <p:spPr>
          <a:xfrm>
            <a:off x="520671" y="1474467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404" y="1511329"/>
            <a:ext cx="160348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Extracción de Frames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8404" y="1843084"/>
            <a:ext cx="4957896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Muestreo cada 10 fotogramas para reducir redundancia temporal y costo computacional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7048" y="2469732"/>
            <a:ext cx="5612190" cy="1032127"/>
          </a:xfrm>
          <a:custGeom>
            <a:avLst/>
            <a:gdLst/>
            <a:ahLst/>
            <a:cxnLst/>
            <a:rect l="l" t="t" r="r" b="b"/>
            <a:pathLst>
              <a:path w="5612190" h="1032127">
                <a:moveTo>
                  <a:pt x="36862" y="0"/>
                </a:moveTo>
                <a:lnTo>
                  <a:pt x="5501608" y="0"/>
                </a:lnTo>
                <a:cubicBezTo>
                  <a:pt x="5562681" y="0"/>
                  <a:pt x="5612190" y="49509"/>
                  <a:pt x="5612190" y="110582"/>
                </a:cubicBezTo>
                <a:lnTo>
                  <a:pt x="5612190" y="921545"/>
                </a:lnTo>
                <a:cubicBezTo>
                  <a:pt x="5612190" y="982618"/>
                  <a:pt x="5562681" y="1032127"/>
                  <a:pt x="5501608" y="1032127"/>
                </a:cubicBez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7048" y="2469732"/>
            <a:ext cx="36862" cy="1032127"/>
          </a:xfrm>
          <a:custGeom>
            <a:avLst/>
            <a:gdLst/>
            <a:ahLst/>
            <a:cxnLst/>
            <a:rect l="l" t="t" r="r" b="b"/>
            <a:pathLst>
              <a:path w="36862" h="1032127">
                <a:moveTo>
                  <a:pt x="36862" y="0"/>
                </a:moveTo>
                <a:lnTo>
                  <a:pt x="36862" y="0"/>
                </a:lnTo>
                <a:lnTo>
                  <a:pt x="36862" y="1032127"/>
                </a:ln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925" y="2617179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0671" y="2617179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8404" y="2654041"/>
            <a:ext cx="180622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Facial MTCNN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8404" y="2985796"/>
            <a:ext cx="4957896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Multi-task Cascaded CNN detecta rostros con puntos clave (ojos, nariz, boca) incluso en iluminación variable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7048" y="3612444"/>
            <a:ext cx="5612190" cy="1032127"/>
          </a:xfrm>
          <a:custGeom>
            <a:avLst/>
            <a:gdLst/>
            <a:ahLst/>
            <a:cxnLst/>
            <a:rect l="l" t="t" r="r" b="b"/>
            <a:pathLst>
              <a:path w="5612190" h="1032127">
                <a:moveTo>
                  <a:pt x="36862" y="0"/>
                </a:moveTo>
                <a:lnTo>
                  <a:pt x="5501608" y="0"/>
                </a:lnTo>
                <a:cubicBezTo>
                  <a:pt x="5562681" y="0"/>
                  <a:pt x="5612190" y="49509"/>
                  <a:pt x="5612190" y="110582"/>
                </a:cubicBezTo>
                <a:lnTo>
                  <a:pt x="5612190" y="921545"/>
                </a:lnTo>
                <a:cubicBezTo>
                  <a:pt x="5612190" y="982618"/>
                  <a:pt x="5562681" y="1032127"/>
                  <a:pt x="5501608" y="1032127"/>
                </a:cubicBez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7048" y="3612444"/>
            <a:ext cx="36862" cy="1032127"/>
          </a:xfrm>
          <a:custGeom>
            <a:avLst/>
            <a:gdLst/>
            <a:ahLst/>
            <a:cxnLst/>
            <a:rect l="l" t="t" r="r" b="b"/>
            <a:pathLst>
              <a:path w="36862" h="1032127">
                <a:moveTo>
                  <a:pt x="36862" y="0"/>
                </a:moveTo>
                <a:lnTo>
                  <a:pt x="36862" y="0"/>
                </a:lnTo>
                <a:lnTo>
                  <a:pt x="36862" y="1032127"/>
                </a:ln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63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52925" y="3759891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F63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20671" y="3759891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8404" y="3796753"/>
            <a:ext cx="130859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Recorte y Margen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8404" y="4128508"/>
            <a:ext cx="4957896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Recorte facial con margen adicional del 30% para incluir contexto periférico (cabello, orejas)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7048" y="4755156"/>
            <a:ext cx="5612190" cy="1032127"/>
          </a:xfrm>
          <a:custGeom>
            <a:avLst/>
            <a:gdLst/>
            <a:ahLst/>
            <a:cxnLst/>
            <a:rect l="l" t="t" r="r" b="b"/>
            <a:pathLst>
              <a:path w="5612190" h="1032127">
                <a:moveTo>
                  <a:pt x="36862" y="0"/>
                </a:moveTo>
                <a:lnTo>
                  <a:pt x="5501608" y="0"/>
                </a:lnTo>
                <a:cubicBezTo>
                  <a:pt x="5562681" y="0"/>
                  <a:pt x="5612190" y="49509"/>
                  <a:pt x="5612190" y="110582"/>
                </a:cubicBezTo>
                <a:lnTo>
                  <a:pt x="5612190" y="921545"/>
                </a:lnTo>
                <a:cubicBezTo>
                  <a:pt x="5612190" y="982618"/>
                  <a:pt x="5562681" y="1032127"/>
                  <a:pt x="5501608" y="1032127"/>
                </a:cubicBez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7048" y="4755156"/>
            <a:ext cx="36862" cy="1032127"/>
          </a:xfrm>
          <a:custGeom>
            <a:avLst/>
            <a:gdLst/>
            <a:ahLst/>
            <a:cxnLst/>
            <a:rect l="l" t="t" r="r" b="b"/>
            <a:pathLst>
              <a:path w="36862" h="1032127">
                <a:moveTo>
                  <a:pt x="36862" y="0"/>
                </a:moveTo>
                <a:lnTo>
                  <a:pt x="36862" y="0"/>
                </a:lnTo>
                <a:lnTo>
                  <a:pt x="36862" y="1032127"/>
                </a:lnTo>
                <a:lnTo>
                  <a:pt x="36862" y="1032127"/>
                </a:lnTo>
                <a:cubicBezTo>
                  <a:pt x="16504" y="1032127"/>
                  <a:pt x="0" y="1015623"/>
                  <a:pt x="0" y="99526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52925" y="4902603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0"/>
                </a:moveTo>
                <a:lnTo>
                  <a:pt x="147447" y="0"/>
                </a:lnTo>
                <a:cubicBezTo>
                  <a:pt x="228825" y="0"/>
                  <a:pt x="294893" y="66069"/>
                  <a:pt x="294893" y="147447"/>
                </a:cubicBezTo>
                <a:lnTo>
                  <a:pt x="294893" y="147447"/>
                </a:lnTo>
                <a:cubicBezTo>
                  <a:pt x="294893" y="228825"/>
                  <a:pt x="228825" y="294893"/>
                  <a:pt x="147447" y="294893"/>
                </a:cubicBezTo>
                <a:lnTo>
                  <a:pt x="147447" y="294893"/>
                </a:lnTo>
                <a:cubicBezTo>
                  <a:pt x="66069" y="294893"/>
                  <a:pt x="0" y="228825"/>
                  <a:pt x="0" y="147447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71" y="4902603"/>
            <a:ext cx="359401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8404" y="4939465"/>
            <a:ext cx="138231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8404" y="5271220"/>
            <a:ext cx="4957896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Filtros: confianza MTCNN &gt;95%, tamaño mínimo 50×50px, descarte de frames sin rostro detectado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8617" y="5897868"/>
            <a:ext cx="5630621" cy="958404"/>
          </a:xfrm>
          <a:custGeom>
            <a:avLst/>
            <a:gdLst/>
            <a:ahLst/>
            <a:cxnLst/>
            <a:rect l="l" t="t" r="r" b="b"/>
            <a:pathLst>
              <a:path w="5630621" h="958404">
                <a:moveTo>
                  <a:pt x="110581" y="0"/>
                </a:moveTo>
                <a:lnTo>
                  <a:pt x="5520041" y="0"/>
                </a:lnTo>
                <a:cubicBezTo>
                  <a:pt x="5581113" y="0"/>
                  <a:pt x="5630621" y="49509"/>
                  <a:pt x="5630621" y="110581"/>
                </a:cubicBezTo>
                <a:lnTo>
                  <a:pt x="5630621" y="847823"/>
                </a:lnTo>
                <a:cubicBezTo>
                  <a:pt x="5630621" y="908895"/>
                  <a:pt x="5581113" y="958404"/>
                  <a:pt x="5520041" y="958404"/>
                </a:cubicBezTo>
                <a:lnTo>
                  <a:pt x="110581" y="958404"/>
                </a:lnTo>
                <a:cubicBezTo>
                  <a:pt x="49509" y="958404"/>
                  <a:pt x="0" y="908895"/>
                  <a:pt x="0" y="847823"/>
                </a:cubicBezTo>
                <a:lnTo>
                  <a:pt x="0" y="110581"/>
                </a:lnTo>
                <a:cubicBezTo>
                  <a:pt x="0" y="49550"/>
                  <a:pt x="49550" y="0"/>
                  <a:pt x="110581" y="0"/>
                </a:cubicBezTo>
                <a:close/>
              </a:path>
            </a:pathLst>
          </a:custGeom>
          <a:gradFill rotWithShape="1" flip="none">
            <a:gsLst>
              <a:gs pos="0">
                <a:srgbClr val="1D293D"/>
              </a:gs>
              <a:gs pos="100000">
                <a:srgbClr val="0F172B"/>
              </a:gs>
            </a:gsLst>
            <a:lin ang="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550621" y="6063746"/>
            <a:ext cx="161270" cy="184308"/>
          </a:xfrm>
          <a:custGeom>
            <a:avLst/>
            <a:gdLst/>
            <a:ahLst/>
            <a:cxnLst/>
            <a:rect l="l" t="t" r="r" b="b"/>
            <a:pathLst>
              <a:path w="161270" h="184308">
                <a:moveTo>
                  <a:pt x="161270" y="74083"/>
                </a:moveTo>
                <a:cubicBezTo>
                  <a:pt x="155942" y="77611"/>
                  <a:pt x="149823" y="80455"/>
                  <a:pt x="143451" y="82723"/>
                </a:cubicBezTo>
                <a:cubicBezTo>
                  <a:pt x="126532" y="88770"/>
                  <a:pt x="104321" y="92154"/>
                  <a:pt x="80635" y="92154"/>
                </a:cubicBezTo>
                <a:cubicBezTo>
                  <a:pt x="56948" y="92154"/>
                  <a:pt x="34702" y="88734"/>
                  <a:pt x="17819" y="82723"/>
                </a:cubicBezTo>
                <a:cubicBezTo>
                  <a:pt x="11483" y="80455"/>
                  <a:pt x="5328" y="77611"/>
                  <a:pt x="0" y="74083"/>
                </a:cubicBezTo>
                <a:lnTo>
                  <a:pt x="0" y="103673"/>
                </a:lnTo>
                <a:cubicBezTo>
                  <a:pt x="0" y="119584"/>
                  <a:pt x="36106" y="132472"/>
                  <a:pt x="80635" y="132472"/>
                </a:cubicBezTo>
                <a:cubicBezTo>
                  <a:pt x="125164" y="132472"/>
                  <a:pt x="161270" y="119584"/>
                  <a:pt x="161270" y="103673"/>
                </a:cubicBezTo>
                <a:lnTo>
                  <a:pt x="161270" y="74083"/>
                </a:lnTo>
                <a:close/>
                <a:moveTo>
                  <a:pt x="161270" y="46077"/>
                </a:moveTo>
                <a:lnTo>
                  <a:pt x="161270" y="28798"/>
                </a:lnTo>
                <a:cubicBezTo>
                  <a:pt x="161270" y="12887"/>
                  <a:pt x="125164" y="0"/>
                  <a:pt x="80635" y="0"/>
                </a:cubicBezTo>
                <a:cubicBezTo>
                  <a:pt x="36106" y="0"/>
                  <a:pt x="0" y="12887"/>
                  <a:pt x="0" y="28798"/>
                </a:cubicBezTo>
                <a:lnTo>
                  <a:pt x="0" y="46077"/>
                </a:lnTo>
                <a:cubicBezTo>
                  <a:pt x="0" y="61988"/>
                  <a:pt x="36106" y="74875"/>
                  <a:pt x="80635" y="74875"/>
                </a:cubicBezTo>
                <a:cubicBezTo>
                  <a:pt x="125164" y="74875"/>
                  <a:pt x="161270" y="61988"/>
                  <a:pt x="161270" y="46077"/>
                </a:cubicBezTo>
                <a:close/>
                <a:moveTo>
                  <a:pt x="143451" y="140319"/>
                </a:moveTo>
                <a:cubicBezTo>
                  <a:pt x="126568" y="146331"/>
                  <a:pt x="104357" y="149751"/>
                  <a:pt x="80635" y="149751"/>
                </a:cubicBezTo>
                <a:cubicBezTo>
                  <a:pt x="56912" y="149751"/>
                  <a:pt x="34702" y="146331"/>
                  <a:pt x="17819" y="140319"/>
                </a:cubicBezTo>
                <a:cubicBezTo>
                  <a:pt x="11483" y="138051"/>
                  <a:pt x="5328" y="135207"/>
                  <a:pt x="0" y="131680"/>
                </a:cubicBezTo>
                <a:lnTo>
                  <a:pt x="0" y="155510"/>
                </a:lnTo>
                <a:cubicBezTo>
                  <a:pt x="0" y="171421"/>
                  <a:pt x="36106" y="184308"/>
                  <a:pt x="80635" y="184308"/>
                </a:cubicBezTo>
                <a:cubicBezTo>
                  <a:pt x="125164" y="184308"/>
                  <a:pt x="161270" y="171421"/>
                  <a:pt x="161270" y="155510"/>
                </a:cubicBezTo>
                <a:lnTo>
                  <a:pt x="161270" y="131680"/>
                </a:lnTo>
                <a:cubicBezTo>
                  <a:pt x="155942" y="135207"/>
                  <a:pt x="149823" y="138051"/>
                  <a:pt x="143451" y="14031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7034" y="6045315"/>
            <a:ext cx="156662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 Estructurado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6063" y="6340209"/>
            <a:ext cx="5400236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47,994 imágenes organizadas en train/val/test con metadatos detallados (ffpp_images_metadata.csv)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0228" y="1330707"/>
            <a:ext cx="5628778" cy="2541613"/>
          </a:xfrm>
          <a:custGeom>
            <a:avLst/>
            <a:gdLst/>
            <a:ahLst/>
            <a:cxnLst/>
            <a:rect l="l" t="t" r="r" b="b"/>
            <a:pathLst>
              <a:path w="5628778" h="2541613">
                <a:moveTo>
                  <a:pt x="110586" y="0"/>
                </a:moveTo>
                <a:lnTo>
                  <a:pt x="5518193" y="0"/>
                </a:lnTo>
                <a:cubicBezTo>
                  <a:pt x="5579267" y="0"/>
                  <a:pt x="5628778" y="49511"/>
                  <a:pt x="5628778" y="110586"/>
                </a:cubicBezTo>
                <a:lnTo>
                  <a:pt x="5628778" y="2431027"/>
                </a:lnTo>
                <a:cubicBezTo>
                  <a:pt x="5628778" y="2492102"/>
                  <a:pt x="5579267" y="2541613"/>
                  <a:pt x="5518193" y="2541613"/>
                </a:cubicBezTo>
                <a:lnTo>
                  <a:pt x="110586" y="2541613"/>
                </a:lnTo>
                <a:cubicBezTo>
                  <a:pt x="49511" y="2541613"/>
                  <a:pt x="0" y="2492102"/>
                  <a:pt x="0" y="2431027"/>
                </a:cubicBezTo>
                <a:lnTo>
                  <a:pt x="0" y="110586"/>
                </a:lnTo>
                <a:cubicBezTo>
                  <a:pt x="0" y="49552"/>
                  <a:pt x="49552" y="0"/>
                  <a:pt x="11058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7646" dist="921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5868" y="1555563"/>
            <a:ext cx="129016" cy="147447"/>
          </a:xfrm>
          <a:custGeom>
            <a:avLst/>
            <a:gdLst/>
            <a:ahLst/>
            <a:cxnLst/>
            <a:rect l="l" t="t" r="r" b="b"/>
            <a:pathLst>
              <a:path w="129016" h="147447">
                <a:moveTo>
                  <a:pt x="73723" y="46077"/>
                </a:moveTo>
                <a:lnTo>
                  <a:pt x="73723" y="73723"/>
                </a:lnTo>
                <a:lnTo>
                  <a:pt x="110585" y="73723"/>
                </a:lnTo>
                <a:lnTo>
                  <a:pt x="110585" y="46077"/>
                </a:lnTo>
                <a:lnTo>
                  <a:pt x="73723" y="46077"/>
                </a:lnTo>
                <a:close/>
                <a:moveTo>
                  <a:pt x="55293" y="46077"/>
                </a:moveTo>
                <a:lnTo>
                  <a:pt x="18431" y="46077"/>
                </a:lnTo>
                <a:lnTo>
                  <a:pt x="18431" y="73723"/>
                </a:lnTo>
                <a:lnTo>
                  <a:pt x="55293" y="73723"/>
                </a:lnTo>
                <a:lnTo>
                  <a:pt x="55293" y="46077"/>
                </a:lnTo>
                <a:close/>
                <a:moveTo>
                  <a:pt x="0" y="92154"/>
                </a:moveTo>
                <a:lnTo>
                  <a:pt x="0" y="27646"/>
                </a:lnTo>
                <a:cubicBezTo>
                  <a:pt x="0" y="17480"/>
                  <a:pt x="8265" y="9215"/>
                  <a:pt x="18431" y="9215"/>
                </a:cubicBezTo>
                <a:lnTo>
                  <a:pt x="110585" y="9215"/>
                </a:lnTo>
                <a:cubicBezTo>
                  <a:pt x="120751" y="9215"/>
                  <a:pt x="129016" y="17480"/>
                  <a:pt x="129016" y="27646"/>
                </a:cubicBezTo>
                <a:lnTo>
                  <a:pt x="129016" y="119800"/>
                </a:lnTo>
                <a:cubicBezTo>
                  <a:pt x="129016" y="129966"/>
                  <a:pt x="120751" y="138231"/>
                  <a:pt x="110585" y="138231"/>
                </a:cubicBezTo>
                <a:lnTo>
                  <a:pt x="18431" y="138231"/>
                </a:lnTo>
                <a:cubicBezTo>
                  <a:pt x="8265" y="138231"/>
                  <a:pt x="0" y="129966"/>
                  <a:pt x="0" y="119800"/>
                </a:cubicBezTo>
                <a:lnTo>
                  <a:pt x="0" y="92154"/>
                </a:lnTo>
                <a:close/>
                <a:moveTo>
                  <a:pt x="110585" y="92154"/>
                </a:moveTo>
                <a:lnTo>
                  <a:pt x="73723" y="92154"/>
                </a:lnTo>
                <a:lnTo>
                  <a:pt x="73723" y="119800"/>
                </a:lnTo>
                <a:lnTo>
                  <a:pt x="110585" y="119800"/>
                </a:lnTo>
                <a:lnTo>
                  <a:pt x="110585" y="92154"/>
                </a:lnTo>
                <a:close/>
                <a:moveTo>
                  <a:pt x="55293" y="119800"/>
                </a:moveTo>
                <a:lnTo>
                  <a:pt x="55293" y="92154"/>
                </a:lnTo>
                <a:lnTo>
                  <a:pt x="18431" y="92154"/>
                </a:lnTo>
                <a:lnTo>
                  <a:pt x="18431" y="119800"/>
                </a:lnTo>
                <a:lnTo>
                  <a:pt x="55293" y="119800"/>
                </a:ln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36" name="Text 34"/>
          <p:cNvSpPr/>
          <p:nvPr/>
        </p:nvSpPr>
        <p:spPr>
          <a:xfrm>
            <a:off x="6562531" y="1518702"/>
            <a:ext cx="514220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del Dataset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8222" y="1850457"/>
          <a:ext cx="5252789" cy="1677206"/>
        </p:xfrm>
        <a:graphic>
          <a:graphicData uri="http://schemas.openxmlformats.org/drawingml/2006/table">
            <a:tbl>
              <a:tblPr/>
              <a:tblGrid>
                <a:gridCol w="1566621"/>
                <a:gridCol w="866249"/>
                <a:gridCol w="1354667"/>
                <a:gridCol w="1465252"/>
              </a:tblGrid>
              <a:tr h="335441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31415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Conjunto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31415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31415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31415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Falsas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44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Entrenamiento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33,595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5,760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27,835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44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Validación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7,200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1,104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6,096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44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Prueba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7,199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1,141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6,058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544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4F39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47,994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8,005 (16%)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39,989 (84%)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723" marR="73723" marT="73723" marB="737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6190228" y="4029212"/>
            <a:ext cx="5628778" cy="1703010"/>
          </a:xfrm>
          <a:custGeom>
            <a:avLst/>
            <a:gdLst/>
            <a:ahLst/>
            <a:cxnLst/>
            <a:rect l="l" t="t" r="r" b="b"/>
            <a:pathLst>
              <a:path w="5628778" h="1703010">
                <a:moveTo>
                  <a:pt x="110593" y="0"/>
                </a:moveTo>
                <a:lnTo>
                  <a:pt x="5518185" y="0"/>
                </a:lnTo>
                <a:cubicBezTo>
                  <a:pt x="5579264" y="0"/>
                  <a:pt x="5628778" y="49514"/>
                  <a:pt x="5628778" y="110593"/>
                </a:cubicBezTo>
                <a:lnTo>
                  <a:pt x="5628778" y="1592416"/>
                </a:lnTo>
                <a:cubicBezTo>
                  <a:pt x="5628778" y="1653495"/>
                  <a:pt x="5579264" y="1703010"/>
                  <a:pt x="5518185" y="1703010"/>
                </a:cubicBezTo>
                <a:lnTo>
                  <a:pt x="110593" y="1703010"/>
                </a:lnTo>
                <a:cubicBezTo>
                  <a:pt x="49514" y="1703010"/>
                  <a:pt x="0" y="1653495"/>
                  <a:pt x="0" y="1592416"/>
                </a:cubicBezTo>
                <a:lnTo>
                  <a:pt x="0" y="110593"/>
                </a:lnTo>
                <a:cubicBezTo>
                  <a:pt x="0" y="49514"/>
                  <a:pt x="49514" y="0"/>
                  <a:pt x="110593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2F2"/>
              </a:gs>
              <a:gs pos="100000">
                <a:srgbClr val="FFF7ED"/>
              </a:gs>
            </a:gsLst>
            <a:lin ang="2700000" scaled="1"/>
          </a:gradFill>
          <a:ln w="10160">
            <a:solidFill>
              <a:srgbClr val="FFC9C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5868" y="4309361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10585" y="0"/>
                </a:moveTo>
                <a:cubicBezTo>
                  <a:pt x="116935" y="0"/>
                  <a:pt x="122767" y="3499"/>
                  <a:pt x="125790" y="9071"/>
                </a:cubicBezTo>
                <a:lnTo>
                  <a:pt x="219097" y="181861"/>
                </a:lnTo>
                <a:cubicBezTo>
                  <a:pt x="221991" y="187217"/>
                  <a:pt x="221861" y="193697"/>
                  <a:pt x="218751" y="198923"/>
                </a:cubicBezTo>
                <a:cubicBezTo>
                  <a:pt x="215641" y="204150"/>
                  <a:pt x="209982" y="207347"/>
                  <a:pt x="203891" y="207347"/>
                </a:cubicBezTo>
                <a:lnTo>
                  <a:pt x="17279" y="207347"/>
                </a:lnTo>
                <a:cubicBezTo>
                  <a:pt x="11188" y="207347"/>
                  <a:pt x="5572" y="204150"/>
                  <a:pt x="2419" y="198923"/>
                </a:cubicBezTo>
                <a:cubicBezTo>
                  <a:pt x="-734" y="193697"/>
                  <a:pt x="-821" y="187217"/>
                  <a:pt x="2073" y="181861"/>
                </a:cubicBezTo>
                <a:lnTo>
                  <a:pt x="95380" y="9071"/>
                </a:lnTo>
                <a:cubicBezTo>
                  <a:pt x="98403" y="3499"/>
                  <a:pt x="104235" y="0"/>
                  <a:pt x="110585" y="0"/>
                </a:cubicBezTo>
                <a:close/>
                <a:moveTo>
                  <a:pt x="110585" y="72571"/>
                </a:moveTo>
                <a:cubicBezTo>
                  <a:pt x="104840" y="72571"/>
                  <a:pt x="100218" y="77194"/>
                  <a:pt x="100218" y="82939"/>
                </a:cubicBezTo>
                <a:lnTo>
                  <a:pt x="100218" y="131320"/>
                </a:lnTo>
                <a:cubicBezTo>
                  <a:pt x="100218" y="137065"/>
                  <a:pt x="104840" y="141687"/>
                  <a:pt x="110585" y="141687"/>
                </a:cubicBezTo>
                <a:cubicBezTo>
                  <a:pt x="116330" y="141687"/>
                  <a:pt x="120952" y="137065"/>
                  <a:pt x="120952" y="131320"/>
                </a:cubicBezTo>
                <a:lnTo>
                  <a:pt x="120952" y="82939"/>
                </a:lnTo>
                <a:cubicBezTo>
                  <a:pt x="120952" y="77194"/>
                  <a:pt x="116330" y="72571"/>
                  <a:pt x="110585" y="72571"/>
                </a:cubicBezTo>
                <a:close/>
                <a:moveTo>
                  <a:pt x="122119" y="165878"/>
                </a:moveTo>
                <a:cubicBezTo>
                  <a:pt x="122381" y="161596"/>
                  <a:pt x="120246" y="157523"/>
                  <a:pt x="116576" y="155303"/>
                </a:cubicBezTo>
                <a:cubicBezTo>
                  <a:pt x="112906" y="153083"/>
                  <a:pt x="108307" y="153083"/>
                  <a:pt x="104637" y="155303"/>
                </a:cubicBezTo>
                <a:cubicBezTo>
                  <a:pt x="100967" y="157523"/>
                  <a:pt x="98832" y="161596"/>
                  <a:pt x="99095" y="165878"/>
                </a:cubicBezTo>
                <a:cubicBezTo>
                  <a:pt x="98832" y="170159"/>
                  <a:pt x="100967" y="174232"/>
                  <a:pt x="104637" y="176452"/>
                </a:cubicBezTo>
                <a:cubicBezTo>
                  <a:pt x="108307" y="178672"/>
                  <a:pt x="112906" y="178672"/>
                  <a:pt x="116576" y="176452"/>
                </a:cubicBezTo>
                <a:cubicBezTo>
                  <a:pt x="120246" y="174232"/>
                  <a:pt x="122381" y="170159"/>
                  <a:pt x="122119" y="165878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0" name="Text 37"/>
          <p:cNvSpPr/>
          <p:nvPr/>
        </p:nvSpPr>
        <p:spPr>
          <a:xfrm>
            <a:off x="6765270" y="4217206"/>
            <a:ext cx="162191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 de Clases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765270" y="4438376"/>
            <a:ext cx="1612698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 Fake:Real ≈ 5:1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78222" y="4733270"/>
            <a:ext cx="5252789" cy="147447"/>
          </a:xfrm>
          <a:custGeom>
            <a:avLst/>
            <a:gdLst/>
            <a:ahLst/>
            <a:cxnLst/>
            <a:rect l="l" t="t" r="r" b="b"/>
            <a:pathLst>
              <a:path w="5252789" h="147447">
                <a:moveTo>
                  <a:pt x="73723" y="0"/>
                </a:moveTo>
                <a:lnTo>
                  <a:pt x="5179066" y="0"/>
                </a:lnTo>
                <a:cubicBezTo>
                  <a:pt x="5219782" y="0"/>
                  <a:pt x="5252789" y="33007"/>
                  <a:pt x="5252789" y="73723"/>
                </a:cubicBezTo>
                <a:lnTo>
                  <a:pt x="5252789" y="73723"/>
                </a:lnTo>
                <a:cubicBezTo>
                  <a:pt x="5252789" y="114440"/>
                  <a:pt x="5219782" y="147447"/>
                  <a:pt x="5179066" y="147447"/>
                </a:cubicBezTo>
                <a:lnTo>
                  <a:pt x="73723" y="147447"/>
                </a:lnTo>
                <a:cubicBezTo>
                  <a:pt x="33034" y="147447"/>
                  <a:pt x="0" y="114412"/>
                  <a:pt x="0" y="73723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6378222" y="4733270"/>
            <a:ext cx="4414186" cy="147447"/>
          </a:xfrm>
          <a:custGeom>
            <a:avLst/>
            <a:gdLst/>
            <a:ahLst/>
            <a:cxnLst/>
            <a:rect l="l" t="t" r="r" b="b"/>
            <a:pathLst>
              <a:path w="4414186" h="147447">
                <a:moveTo>
                  <a:pt x="0" y="0"/>
                </a:moveTo>
                <a:lnTo>
                  <a:pt x="4414186" y="0"/>
                </a:lnTo>
                <a:lnTo>
                  <a:pt x="4414186" y="147447"/>
                </a:lnTo>
                <a:lnTo>
                  <a:pt x="0" y="147447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4" name="Text 41"/>
          <p:cNvSpPr/>
          <p:nvPr/>
        </p:nvSpPr>
        <p:spPr>
          <a:xfrm>
            <a:off x="6378222" y="4954440"/>
            <a:ext cx="65429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84% Fake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061959" y="4954440"/>
            <a:ext cx="626649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16% Real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78222" y="5249333"/>
            <a:ext cx="5252789" cy="294893"/>
          </a:xfrm>
          <a:custGeom>
            <a:avLst/>
            <a:gdLst/>
            <a:ahLst/>
            <a:cxnLst/>
            <a:rect l="l" t="t" r="r" b="b"/>
            <a:pathLst>
              <a:path w="5252789" h="294893">
                <a:moveTo>
                  <a:pt x="73723" y="0"/>
                </a:moveTo>
                <a:lnTo>
                  <a:pt x="5179066" y="0"/>
                </a:lnTo>
                <a:cubicBezTo>
                  <a:pt x="5219782" y="0"/>
                  <a:pt x="5252789" y="33007"/>
                  <a:pt x="5252789" y="73723"/>
                </a:cubicBezTo>
                <a:lnTo>
                  <a:pt x="5252789" y="221170"/>
                </a:lnTo>
                <a:cubicBezTo>
                  <a:pt x="5252789" y="261886"/>
                  <a:pt x="5219782" y="294893"/>
                  <a:pt x="5179066" y="294893"/>
                </a:cubicBezTo>
                <a:lnTo>
                  <a:pt x="73723" y="294893"/>
                </a:lnTo>
                <a:cubicBezTo>
                  <a:pt x="33007" y="294893"/>
                  <a:pt x="0" y="261886"/>
                  <a:pt x="0" y="221170"/>
                </a:cubicBezTo>
                <a:lnTo>
                  <a:pt x="0" y="73723"/>
                </a:lnTo>
                <a:cubicBezTo>
                  <a:pt x="0" y="33034"/>
                  <a:pt x="33034" y="0"/>
                  <a:pt x="73723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378222" y="5249333"/>
            <a:ext cx="5308082" cy="294893"/>
          </a:xfrm>
          <a:prstGeom prst="rect">
            <a:avLst/>
          </a:prstGeom>
          <a:noFill/>
          <a:ln/>
        </p:spPr>
        <p:txBody>
          <a:bodyPr wrap="square" lIns="73723" tIns="73723" rIns="73723" bIns="73723" rtlCol="0" anchor="ctr"/>
          <a:lstStyle/>
          <a:p>
            <a:pPr>
              <a:lnSpc>
                <a:spcPct val="110000"/>
              </a:lnSpc>
            </a:pPr>
            <a:r>
              <a:rPr lang="en-US" sz="871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Estrategia:</a:t>
            </a:r>
            <a:pPr>
              <a:lnSpc>
                <a:spcPct val="110000"/>
              </a:lnSpc>
            </a:pPr>
            <a:r>
              <a:rPr lang="en-US" sz="87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Ponderación de clases en loss function en lugar de sub/sobremuestreo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190228" y="5886926"/>
            <a:ext cx="2753567" cy="965776"/>
          </a:xfrm>
          <a:custGeom>
            <a:avLst/>
            <a:gdLst/>
            <a:ahLst/>
            <a:cxnLst/>
            <a:rect l="l" t="t" r="r" b="b"/>
            <a:pathLst>
              <a:path w="2753567" h="965776">
                <a:moveTo>
                  <a:pt x="73727" y="0"/>
                </a:moveTo>
                <a:lnTo>
                  <a:pt x="2679840" y="0"/>
                </a:lnTo>
                <a:cubicBezTo>
                  <a:pt x="2720558" y="0"/>
                  <a:pt x="2753567" y="33009"/>
                  <a:pt x="2753567" y="73727"/>
                </a:cubicBezTo>
                <a:lnTo>
                  <a:pt x="2753567" y="892049"/>
                </a:lnTo>
                <a:cubicBezTo>
                  <a:pt x="2753567" y="932767"/>
                  <a:pt x="2720558" y="965776"/>
                  <a:pt x="2679840" y="965776"/>
                </a:cubicBezTo>
                <a:lnTo>
                  <a:pt x="73727" y="965776"/>
                </a:lnTo>
                <a:cubicBezTo>
                  <a:pt x="33009" y="965776"/>
                  <a:pt x="0" y="932767"/>
                  <a:pt x="0" y="892049"/>
                </a:cubicBezTo>
                <a:lnTo>
                  <a:pt x="0" y="73727"/>
                </a:lnTo>
                <a:cubicBezTo>
                  <a:pt x="0" y="33036"/>
                  <a:pt x="33036" y="0"/>
                  <a:pt x="73727" y="0"/>
                </a:cubicBezTo>
                <a:close/>
              </a:path>
            </a:pathLst>
          </a:custGeom>
          <a:solidFill>
            <a:srgbClr val="EFF6FF"/>
          </a:solidFill>
          <a:ln w="10160">
            <a:solidFill>
              <a:srgbClr val="BEDB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04499" y="6001198"/>
            <a:ext cx="2580317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304499" y="6185389"/>
            <a:ext cx="2589533" cy="55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Resize 256×256 → RandomCrop 224×224 → HorizontalFlip → Brightness/Contrast ±10%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062328" y="5886926"/>
            <a:ext cx="2753567" cy="965776"/>
          </a:xfrm>
          <a:custGeom>
            <a:avLst/>
            <a:gdLst/>
            <a:ahLst/>
            <a:cxnLst/>
            <a:rect l="l" t="t" r="r" b="b"/>
            <a:pathLst>
              <a:path w="2753567" h="965776">
                <a:moveTo>
                  <a:pt x="73727" y="0"/>
                </a:moveTo>
                <a:lnTo>
                  <a:pt x="2679840" y="0"/>
                </a:lnTo>
                <a:cubicBezTo>
                  <a:pt x="2720558" y="0"/>
                  <a:pt x="2753567" y="33009"/>
                  <a:pt x="2753567" y="73727"/>
                </a:cubicBezTo>
                <a:lnTo>
                  <a:pt x="2753567" y="892049"/>
                </a:lnTo>
                <a:cubicBezTo>
                  <a:pt x="2753567" y="932767"/>
                  <a:pt x="2720558" y="965776"/>
                  <a:pt x="2679840" y="965776"/>
                </a:cubicBezTo>
                <a:lnTo>
                  <a:pt x="73727" y="965776"/>
                </a:lnTo>
                <a:cubicBezTo>
                  <a:pt x="33009" y="965776"/>
                  <a:pt x="0" y="932767"/>
                  <a:pt x="0" y="892049"/>
                </a:cubicBezTo>
                <a:lnTo>
                  <a:pt x="0" y="73727"/>
                </a:lnTo>
                <a:cubicBezTo>
                  <a:pt x="0" y="33036"/>
                  <a:pt x="33036" y="0"/>
                  <a:pt x="73727" y="0"/>
                </a:cubicBezTo>
                <a:close/>
              </a:path>
            </a:pathLst>
          </a:custGeom>
          <a:solidFill>
            <a:srgbClr val="FAF5FF"/>
          </a:solidFill>
          <a:ln w="10160">
            <a:solidFill>
              <a:srgbClr val="E9D4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176600" y="6001198"/>
            <a:ext cx="2580317" cy="1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1" b="1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NORMALIZACIÓN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9176600" y="6185389"/>
            <a:ext cx="2589533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ImageNet: μ=[0.485, 0.456, 0.406], σ=[0.229, 0.224, 0.225]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142" y="371142"/>
            <a:ext cx="2375306" cy="334027"/>
          </a:xfrm>
          <a:custGeom>
            <a:avLst/>
            <a:gdLst/>
            <a:ahLst/>
            <a:cxnLst/>
            <a:rect l="l" t="t" r="r" b="b"/>
            <a:pathLst>
              <a:path w="2375306" h="334027">
                <a:moveTo>
                  <a:pt x="167014" y="0"/>
                </a:moveTo>
                <a:lnTo>
                  <a:pt x="2208292" y="0"/>
                </a:lnTo>
                <a:cubicBezTo>
                  <a:pt x="2300470" y="0"/>
                  <a:pt x="2375306" y="74836"/>
                  <a:pt x="2375306" y="167014"/>
                </a:cubicBezTo>
                <a:lnTo>
                  <a:pt x="2375306" y="167014"/>
                </a:lnTo>
                <a:cubicBezTo>
                  <a:pt x="2375306" y="259191"/>
                  <a:pt x="2300470" y="334027"/>
                  <a:pt x="2208292" y="334027"/>
                </a:cubicBezTo>
                <a:lnTo>
                  <a:pt x="167014" y="334027"/>
                </a:lnTo>
                <a:cubicBezTo>
                  <a:pt x="74836" y="334027"/>
                  <a:pt x="0" y="259191"/>
                  <a:pt x="0" y="167014"/>
                </a:cubicBezTo>
                <a:lnTo>
                  <a:pt x="0" y="167014"/>
                </a:lnTo>
                <a:cubicBezTo>
                  <a:pt x="0" y="74836"/>
                  <a:pt x="74836" y="0"/>
                  <a:pt x="167014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" name="Shape 1"/>
          <p:cNvSpPr/>
          <p:nvPr/>
        </p:nvSpPr>
        <p:spPr>
          <a:xfrm>
            <a:off x="538155" y="463927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34795" y="16237"/>
                </a:moveTo>
                <a:cubicBezTo>
                  <a:pt x="34795" y="7278"/>
                  <a:pt x="42072" y="0"/>
                  <a:pt x="51032" y="0"/>
                </a:cubicBezTo>
                <a:lnTo>
                  <a:pt x="57991" y="0"/>
                </a:lnTo>
                <a:cubicBezTo>
                  <a:pt x="63123" y="0"/>
                  <a:pt x="67269" y="4146"/>
                  <a:pt x="67269" y="9279"/>
                </a:cubicBezTo>
                <a:lnTo>
                  <a:pt x="67269" y="139178"/>
                </a:lnTo>
                <a:cubicBezTo>
                  <a:pt x="67269" y="144310"/>
                  <a:pt x="63123" y="148457"/>
                  <a:pt x="57991" y="148457"/>
                </a:cubicBezTo>
                <a:lnTo>
                  <a:pt x="48712" y="148457"/>
                </a:lnTo>
                <a:cubicBezTo>
                  <a:pt x="40072" y="148457"/>
                  <a:pt x="32794" y="142542"/>
                  <a:pt x="30735" y="134539"/>
                </a:cubicBezTo>
                <a:cubicBezTo>
                  <a:pt x="30532" y="134539"/>
                  <a:pt x="30358" y="134539"/>
                  <a:pt x="30155" y="134539"/>
                </a:cubicBezTo>
                <a:cubicBezTo>
                  <a:pt x="17339" y="134539"/>
                  <a:pt x="6959" y="124158"/>
                  <a:pt x="6959" y="111342"/>
                </a:cubicBezTo>
                <a:cubicBezTo>
                  <a:pt x="6959" y="106123"/>
                  <a:pt x="8699" y="101310"/>
                  <a:pt x="11598" y="97425"/>
                </a:cubicBezTo>
                <a:cubicBezTo>
                  <a:pt x="5973" y="93191"/>
                  <a:pt x="2320" y="86464"/>
                  <a:pt x="2320" y="78868"/>
                </a:cubicBezTo>
                <a:cubicBezTo>
                  <a:pt x="2320" y="69908"/>
                  <a:pt x="7423" y="62108"/>
                  <a:pt x="14846" y="58252"/>
                </a:cubicBezTo>
                <a:cubicBezTo>
                  <a:pt x="12787" y="54772"/>
                  <a:pt x="11598" y="50713"/>
                  <a:pt x="11598" y="46393"/>
                </a:cubicBezTo>
                <a:cubicBezTo>
                  <a:pt x="11598" y="33577"/>
                  <a:pt x="21979" y="23196"/>
                  <a:pt x="34795" y="23196"/>
                </a:cubicBezTo>
                <a:lnTo>
                  <a:pt x="34795" y="16237"/>
                </a:lnTo>
                <a:close/>
                <a:moveTo>
                  <a:pt x="113662" y="16237"/>
                </a:moveTo>
                <a:lnTo>
                  <a:pt x="113662" y="23196"/>
                </a:lnTo>
                <a:cubicBezTo>
                  <a:pt x="126478" y="23196"/>
                  <a:pt x="136858" y="33577"/>
                  <a:pt x="136858" y="46393"/>
                </a:cubicBezTo>
                <a:cubicBezTo>
                  <a:pt x="136858" y="50742"/>
                  <a:pt x="135670" y="54801"/>
                  <a:pt x="133611" y="58252"/>
                </a:cubicBezTo>
                <a:cubicBezTo>
                  <a:pt x="141063" y="62108"/>
                  <a:pt x="146137" y="69879"/>
                  <a:pt x="146137" y="78868"/>
                </a:cubicBezTo>
                <a:cubicBezTo>
                  <a:pt x="146137" y="86464"/>
                  <a:pt x="142484" y="93191"/>
                  <a:pt x="136858" y="97425"/>
                </a:cubicBezTo>
                <a:cubicBezTo>
                  <a:pt x="139758" y="101310"/>
                  <a:pt x="141498" y="106123"/>
                  <a:pt x="141498" y="111342"/>
                </a:cubicBezTo>
                <a:cubicBezTo>
                  <a:pt x="141498" y="124158"/>
                  <a:pt x="131117" y="134539"/>
                  <a:pt x="118301" y="134539"/>
                </a:cubicBezTo>
                <a:cubicBezTo>
                  <a:pt x="118098" y="134539"/>
                  <a:pt x="117924" y="134539"/>
                  <a:pt x="117721" y="134539"/>
                </a:cubicBezTo>
                <a:cubicBezTo>
                  <a:pt x="115663" y="142542"/>
                  <a:pt x="108385" y="148457"/>
                  <a:pt x="99744" y="148457"/>
                </a:cubicBezTo>
                <a:lnTo>
                  <a:pt x="90466" y="148457"/>
                </a:lnTo>
                <a:cubicBezTo>
                  <a:pt x="85334" y="148457"/>
                  <a:pt x="81187" y="144310"/>
                  <a:pt x="81187" y="139178"/>
                </a:cubicBezTo>
                <a:lnTo>
                  <a:pt x="81187" y="9279"/>
                </a:lnTo>
                <a:cubicBezTo>
                  <a:pt x="81187" y="4146"/>
                  <a:pt x="85334" y="0"/>
                  <a:pt x="90466" y="0"/>
                </a:cubicBezTo>
                <a:lnTo>
                  <a:pt x="97425" y="0"/>
                </a:lnTo>
                <a:cubicBezTo>
                  <a:pt x="106384" y="0"/>
                  <a:pt x="113662" y="7278"/>
                  <a:pt x="113662" y="16237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" name="Text 2"/>
          <p:cNvSpPr/>
          <p:nvPr/>
        </p:nvSpPr>
        <p:spPr>
          <a:xfrm>
            <a:off x="779397" y="445370"/>
            <a:ext cx="1883543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8200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- PYTORCH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1142" y="816511"/>
            <a:ext cx="11616731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CNNs vs Transfer Learning: Comparación de Arquitecturas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564" y="1343532"/>
            <a:ext cx="3698426" cy="3215942"/>
          </a:xfrm>
          <a:custGeom>
            <a:avLst/>
            <a:gdLst/>
            <a:ahLst/>
            <a:cxnLst/>
            <a:rect l="l" t="t" r="r" b="b"/>
            <a:pathLst>
              <a:path w="3698426" h="3215942">
                <a:moveTo>
                  <a:pt x="111336" y="0"/>
                </a:moveTo>
                <a:lnTo>
                  <a:pt x="3587090" y="0"/>
                </a:lnTo>
                <a:cubicBezTo>
                  <a:pt x="3648579" y="0"/>
                  <a:pt x="3698426" y="49847"/>
                  <a:pt x="3698426" y="111336"/>
                </a:cubicBezTo>
                <a:lnTo>
                  <a:pt x="3698426" y="3104606"/>
                </a:lnTo>
                <a:cubicBezTo>
                  <a:pt x="3698426" y="3166095"/>
                  <a:pt x="3648579" y="3215942"/>
                  <a:pt x="3587090" y="3215942"/>
                </a:cubicBezTo>
                <a:lnTo>
                  <a:pt x="111336" y="3215942"/>
                </a:lnTo>
                <a:cubicBezTo>
                  <a:pt x="49847" y="3215942"/>
                  <a:pt x="0" y="3166095"/>
                  <a:pt x="0" y="3104606"/>
                </a:cubicBezTo>
                <a:lnTo>
                  <a:pt x="0" y="111336"/>
                </a:lnTo>
                <a:cubicBezTo>
                  <a:pt x="0" y="49888"/>
                  <a:pt x="49888" y="0"/>
                  <a:pt x="111336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987" y="1350956"/>
            <a:ext cx="3683580" cy="816511"/>
          </a:xfrm>
          <a:custGeom>
            <a:avLst/>
            <a:gdLst/>
            <a:ahLst/>
            <a:cxnLst/>
            <a:rect l="l" t="t" r="r" b="b"/>
            <a:pathLst>
              <a:path w="3683580" h="816511">
                <a:moveTo>
                  <a:pt x="0" y="0"/>
                </a:moveTo>
                <a:lnTo>
                  <a:pt x="3683580" y="0"/>
                </a:lnTo>
                <a:lnTo>
                  <a:pt x="3683580" y="816511"/>
                </a:lnTo>
                <a:lnTo>
                  <a:pt x="0" y="81651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14158"/>
              </a:gs>
              <a:gs pos="100000">
                <a:srgbClr val="1D293D"/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534444" y="1499413"/>
            <a:ext cx="120621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Estándar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9089" y="1517970"/>
            <a:ext cx="575269" cy="222685"/>
          </a:xfrm>
          <a:custGeom>
            <a:avLst/>
            <a:gdLst/>
            <a:ahLst/>
            <a:cxnLst/>
            <a:rect l="l" t="t" r="r" b="b"/>
            <a:pathLst>
              <a:path w="575269" h="222685">
                <a:moveTo>
                  <a:pt x="37115" y="0"/>
                </a:moveTo>
                <a:lnTo>
                  <a:pt x="538155" y="0"/>
                </a:lnTo>
                <a:cubicBezTo>
                  <a:pt x="558639" y="0"/>
                  <a:pt x="575269" y="16631"/>
                  <a:pt x="575269" y="37115"/>
                </a:cubicBezTo>
                <a:lnTo>
                  <a:pt x="575269" y="185570"/>
                </a:lnTo>
                <a:cubicBezTo>
                  <a:pt x="575269" y="206068"/>
                  <a:pt x="558653" y="222685"/>
                  <a:pt x="538155" y="222685"/>
                </a:cubicBezTo>
                <a:lnTo>
                  <a:pt x="37115" y="222685"/>
                </a:lnTo>
                <a:cubicBezTo>
                  <a:pt x="16631" y="222685"/>
                  <a:pt x="0" y="206054"/>
                  <a:pt x="0" y="185570"/>
                </a:cubicBezTo>
                <a:lnTo>
                  <a:pt x="0" y="37115"/>
                </a:lnTo>
                <a:cubicBezTo>
                  <a:pt x="0" y="16631"/>
                  <a:pt x="16631" y="0"/>
                  <a:pt x="3711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49089" y="1517970"/>
            <a:ext cx="630941" cy="222685"/>
          </a:xfrm>
          <a:prstGeom prst="rect">
            <a:avLst/>
          </a:prstGeom>
          <a:noFill/>
          <a:ln/>
        </p:spPr>
        <p:txBody>
          <a:bodyPr wrap="square" lIns="74228" tIns="37114" rIns="74228" bIns="37114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444" y="1833440"/>
            <a:ext cx="3451616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Desde cero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444" y="2334481"/>
            <a:ext cx="73300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2043" y="2315924"/>
            <a:ext cx="48248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8.49M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444" y="2668509"/>
            <a:ext cx="779397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Conv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31715" y="2649952"/>
            <a:ext cx="77011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bloques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444" y="3002536"/>
            <a:ext cx="89074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Tiempo/época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883" y="2983979"/>
            <a:ext cx="61238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~2,207s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444" y="3321718"/>
            <a:ext cx="3386667" cy="7423"/>
          </a:xfrm>
          <a:custGeom>
            <a:avLst/>
            <a:gdLst/>
            <a:ahLst/>
            <a:cxnLst/>
            <a:rect l="l" t="t" r="r" b="b"/>
            <a:pathLst>
              <a:path w="3386667" h="7423">
                <a:moveTo>
                  <a:pt x="0" y="0"/>
                </a:moveTo>
                <a:lnTo>
                  <a:pt x="3386667" y="0"/>
                </a:lnTo>
                <a:lnTo>
                  <a:pt x="3386667" y="7423"/>
                </a:lnTo>
                <a:lnTo>
                  <a:pt x="0" y="7423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34444" y="3455329"/>
            <a:ext cx="82579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Accuracy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1113" y="3436772"/>
            <a:ext cx="57526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E171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83.19%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444" y="3696571"/>
            <a:ext cx="3442338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época: 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4444" y="3956253"/>
            <a:ext cx="3386667" cy="445370"/>
          </a:xfrm>
          <a:custGeom>
            <a:avLst/>
            <a:gdLst/>
            <a:ahLst/>
            <a:cxnLst/>
            <a:rect l="l" t="t" r="r" b="b"/>
            <a:pathLst>
              <a:path w="3386667" h="445370">
                <a:moveTo>
                  <a:pt x="74230" y="0"/>
                </a:moveTo>
                <a:lnTo>
                  <a:pt x="3312437" y="0"/>
                </a:lnTo>
                <a:cubicBezTo>
                  <a:pt x="3353433" y="0"/>
                  <a:pt x="3386667" y="33234"/>
                  <a:pt x="3386667" y="74230"/>
                </a:cubicBezTo>
                <a:lnTo>
                  <a:pt x="3386667" y="371140"/>
                </a:lnTo>
                <a:cubicBezTo>
                  <a:pt x="3386667" y="412136"/>
                  <a:pt x="3353433" y="445370"/>
                  <a:pt x="3312437" y="445370"/>
                </a:cubicBezTo>
                <a:lnTo>
                  <a:pt x="74230" y="445370"/>
                </a:lnTo>
                <a:cubicBezTo>
                  <a:pt x="33261" y="445370"/>
                  <a:pt x="0" y="412109"/>
                  <a:pt x="0" y="371140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534444" y="3956253"/>
            <a:ext cx="3442338" cy="445370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>
              <a:lnSpc>
                <a:spcPct val="110000"/>
              </a:lnSpc>
            </a:pPr>
            <a:r>
              <a:rPr lang="en-US" sz="877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Arquitectura: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4 bloques Conv2D (3→64→128→256→512) + FC(2048→1024→512→256→2)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3888" y="1343532"/>
            <a:ext cx="3698426" cy="3215942"/>
          </a:xfrm>
          <a:custGeom>
            <a:avLst/>
            <a:gdLst/>
            <a:ahLst/>
            <a:cxnLst/>
            <a:rect l="l" t="t" r="r" b="b"/>
            <a:pathLst>
              <a:path w="3698426" h="3215942">
                <a:moveTo>
                  <a:pt x="111336" y="0"/>
                </a:moveTo>
                <a:lnTo>
                  <a:pt x="3587090" y="0"/>
                </a:lnTo>
                <a:cubicBezTo>
                  <a:pt x="3648579" y="0"/>
                  <a:pt x="3698426" y="49847"/>
                  <a:pt x="3698426" y="111336"/>
                </a:cubicBezTo>
                <a:lnTo>
                  <a:pt x="3698426" y="3104606"/>
                </a:lnTo>
                <a:cubicBezTo>
                  <a:pt x="3698426" y="3166095"/>
                  <a:pt x="3648579" y="3215942"/>
                  <a:pt x="3587090" y="3215942"/>
                </a:cubicBezTo>
                <a:lnTo>
                  <a:pt x="111336" y="3215942"/>
                </a:lnTo>
                <a:cubicBezTo>
                  <a:pt x="49847" y="3215942"/>
                  <a:pt x="0" y="3166095"/>
                  <a:pt x="0" y="3104606"/>
                </a:cubicBezTo>
                <a:lnTo>
                  <a:pt x="0" y="111336"/>
                </a:lnTo>
                <a:cubicBezTo>
                  <a:pt x="0" y="49888"/>
                  <a:pt x="49888" y="0"/>
                  <a:pt x="111336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311" y="1350956"/>
            <a:ext cx="3683580" cy="816511"/>
          </a:xfrm>
          <a:custGeom>
            <a:avLst/>
            <a:gdLst/>
            <a:ahLst/>
            <a:cxnLst/>
            <a:rect l="l" t="t" r="r" b="b"/>
            <a:pathLst>
              <a:path w="3683580" h="816511">
                <a:moveTo>
                  <a:pt x="0" y="0"/>
                </a:moveTo>
                <a:lnTo>
                  <a:pt x="3683580" y="0"/>
                </a:lnTo>
                <a:lnTo>
                  <a:pt x="3683580" y="816511"/>
                </a:lnTo>
                <a:lnTo>
                  <a:pt x="0" y="81651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5556C"/>
              </a:gs>
              <a:gs pos="100000">
                <a:srgbClr val="314158"/>
              </a:gs>
            </a:gsLst>
            <a:lin ang="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4399767" y="1499413"/>
            <a:ext cx="992804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Ligera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71986" y="1517970"/>
            <a:ext cx="714447" cy="222685"/>
          </a:xfrm>
          <a:custGeom>
            <a:avLst/>
            <a:gdLst/>
            <a:ahLst/>
            <a:cxnLst/>
            <a:rect l="l" t="t" r="r" b="b"/>
            <a:pathLst>
              <a:path w="714447" h="222685">
                <a:moveTo>
                  <a:pt x="37115" y="0"/>
                </a:moveTo>
                <a:lnTo>
                  <a:pt x="677333" y="0"/>
                </a:lnTo>
                <a:cubicBezTo>
                  <a:pt x="697817" y="0"/>
                  <a:pt x="714447" y="16631"/>
                  <a:pt x="714447" y="37115"/>
                </a:cubicBezTo>
                <a:lnTo>
                  <a:pt x="714447" y="185570"/>
                </a:lnTo>
                <a:cubicBezTo>
                  <a:pt x="714447" y="206068"/>
                  <a:pt x="697831" y="222685"/>
                  <a:pt x="677333" y="222685"/>
                </a:cubicBezTo>
                <a:lnTo>
                  <a:pt x="37115" y="222685"/>
                </a:lnTo>
                <a:cubicBezTo>
                  <a:pt x="16631" y="222685"/>
                  <a:pt x="0" y="206054"/>
                  <a:pt x="0" y="185570"/>
                </a:cubicBezTo>
                <a:lnTo>
                  <a:pt x="0" y="37115"/>
                </a:lnTo>
                <a:cubicBezTo>
                  <a:pt x="0" y="16631"/>
                  <a:pt x="16631" y="0"/>
                  <a:pt x="3711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71986" y="1517970"/>
            <a:ext cx="770119" cy="222685"/>
          </a:xfrm>
          <a:prstGeom prst="rect">
            <a:avLst/>
          </a:prstGeom>
          <a:noFill/>
          <a:ln/>
        </p:spPr>
        <p:txBody>
          <a:bodyPr wrap="square" lIns="74228" tIns="37114" rIns="74228" bIns="37114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Prototipado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9767" y="1833440"/>
            <a:ext cx="3451616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Versión reducida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99767" y="2334481"/>
            <a:ext cx="73300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77367" y="2315924"/>
            <a:ext cx="48248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1.11M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99767" y="2668509"/>
            <a:ext cx="779397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Conv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7038" y="2649952"/>
            <a:ext cx="77011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bloques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99767" y="3002536"/>
            <a:ext cx="89074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Tiempo/época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3075" y="2983979"/>
            <a:ext cx="49176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~157s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99767" y="3321718"/>
            <a:ext cx="3386667" cy="7423"/>
          </a:xfrm>
          <a:custGeom>
            <a:avLst/>
            <a:gdLst/>
            <a:ahLst/>
            <a:cxnLst/>
            <a:rect l="l" t="t" r="r" b="b"/>
            <a:pathLst>
              <a:path w="3386667" h="7423">
                <a:moveTo>
                  <a:pt x="0" y="0"/>
                </a:moveTo>
                <a:lnTo>
                  <a:pt x="3386667" y="0"/>
                </a:lnTo>
                <a:lnTo>
                  <a:pt x="3386667" y="7423"/>
                </a:lnTo>
                <a:lnTo>
                  <a:pt x="0" y="7423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4399767" y="3455329"/>
            <a:ext cx="82579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Accuracy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86436" y="3436772"/>
            <a:ext cx="575269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73.74%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99767" y="3696571"/>
            <a:ext cx="3442338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época: 10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99767" y="3956253"/>
            <a:ext cx="3386667" cy="445370"/>
          </a:xfrm>
          <a:custGeom>
            <a:avLst/>
            <a:gdLst/>
            <a:ahLst/>
            <a:cxnLst/>
            <a:rect l="l" t="t" r="r" b="b"/>
            <a:pathLst>
              <a:path w="3386667" h="445370">
                <a:moveTo>
                  <a:pt x="74230" y="0"/>
                </a:moveTo>
                <a:lnTo>
                  <a:pt x="3312437" y="0"/>
                </a:lnTo>
                <a:cubicBezTo>
                  <a:pt x="3353433" y="0"/>
                  <a:pt x="3386667" y="33234"/>
                  <a:pt x="3386667" y="74230"/>
                </a:cubicBezTo>
                <a:lnTo>
                  <a:pt x="3386667" y="371140"/>
                </a:lnTo>
                <a:cubicBezTo>
                  <a:pt x="3386667" y="412136"/>
                  <a:pt x="3353433" y="445370"/>
                  <a:pt x="3312437" y="445370"/>
                </a:cubicBezTo>
                <a:lnTo>
                  <a:pt x="74230" y="445370"/>
                </a:lnTo>
                <a:cubicBezTo>
                  <a:pt x="33261" y="445370"/>
                  <a:pt x="0" y="412109"/>
                  <a:pt x="0" y="371140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4399767" y="3956253"/>
            <a:ext cx="3442338" cy="445370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>
              <a:lnSpc>
                <a:spcPct val="110000"/>
              </a:lnSpc>
            </a:pPr>
            <a:r>
              <a:rPr lang="en-US" sz="877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Trade-off: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Rápida iteración pero sacrifica capacidad de capturar patrones sutiles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09211" y="1343532"/>
            <a:ext cx="3698426" cy="3215942"/>
          </a:xfrm>
          <a:custGeom>
            <a:avLst/>
            <a:gdLst/>
            <a:ahLst/>
            <a:cxnLst/>
            <a:rect l="l" t="t" r="r" b="b"/>
            <a:pathLst>
              <a:path w="3698426" h="3215942">
                <a:moveTo>
                  <a:pt x="111336" y="0"/>
                </a:moveTo>
                <a:lnTo>
                  <a:pt x="3587090" y="0"/>
                </a:lnTo>
                <a:cubicBezTo>
                  <a:pt x="3648579" y="0"/>
                  <a:pt x="3698426" y="49847"/>
                  <a:pt x="3698426" y="111336"/>
                </a:cubicBezTo>
                <a:lnTo>
                  <a:pt x="3698426" y="3104606"/>
                </a:lnTo>
                <a:cubicBezTo>
                  <a:pt x="3698426" y="3166095"/>
                  <a:pt x="3648579" y="3215942"/>
                  <a:pt x="3587090" y="3215942"/>
                </a:cubicBezTo>
                <a:lnTo>
                  <a:pt x="111336" y="3215942"/>
                </a:lnTo>
                <a:cubicBezTo>
                  <a:pt x="49847" y="3215942"/>
                  <a:pt x="0" y="3166095"/>
                  <a:pt x="0" y="3104606"/>
                </a:cubicBezTo>
                <a:lnTo>
                  <a:pt x="0" y="111336"/>
                </a:lnTo>
                <a:cubicBezTo>
                  <a:pt x="0" y="49888"/>
                  <a:pt x="49888" y="0"/>
                  <a:pt x="111336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00C950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16634" y="1350956"/>
            <a:ext cx="3683580" cy="816511"/>
          </a:xfrm>
          <a:custGeom>
            <a:avLst/>
            <a:gdLst/>
            <a:ahLst/>
            <a:cxnLst/>
            <a:rect l="l" t="t" r="r" b="b"/>
            <a:pathLst>
              <a:path w="3683580" h="816511">
                <a:moveTo>
                  <a:pt x="0" y="0"/>
                </a:moveTo>
                <a:lnTo>
                  <a:pt x="3683580" y="0"/>
                </a:lnTo>
                <a:lnTo>
                  <a:pt x="3683580" y="816511"/>
                </a:lnTo>
                <a:lnTo>
                  <a:pt x="0" y="81651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A63E"/>
              </a:gs>
              <a:gs pos="100000">
                <a:srgbClr val="009966"/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8265091" y="1499413"/>
            <a:ext cx="844347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ResNet18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495652" y="1517970"/>
            <a:ext cx="1159817" cy="222685"/>
          </a:xfrm>
          <a:custGeom>
            <a:avLst/>
            <a:gdLst/>
            <a:ahLst/>
            <a:cxnLst/>
            <a:rect l="l" t="t" r="r" b="b"/>
            <a:pathLst>
              <a:path w="1159817" h="222685">
                <a:moveTo>
                  <a:pt x="37115" y="0"/>
                </a:moveTo>
                <a:lnTo>
                  <a:pt x="1122702" y="0"/>
                </a:lnTo>
                <a:cubicBezTo>
                  <a:pt x="1143200" y="0"/>
                  <a:pt x="1159817" y="16617"/>
                  <a:pt x="1159817" y="37115"/>
                </a:cubicBezTo>
                <a:lnTo>
                  <a:pt x="1159817" y="185570"/>
                </a:lnTo>
                <a:cubicBezTo>
                  <a:pt x="1159817" y="206068"/>
                  <a:pt x="1143200" y="222685"/>
                  <a:pt x="1122702" y="222685"/>
                </a:cubicBezTo>
                <a:lnTo>
                  <a:pt x="37115" y="222685"/>
                </a:lnTo>
                <a:cubicBezTo>
                  <a:pt x="16631" y="222685"/>
                  <a:pt x="0" y="206054"/>
                  <a:pt x="0" y="185570"/>
                </a:cubicBezTo>
                <a:lnTo>
                  <a:pt x="0" y="37115"/>
                </a:lnTo>
                <a:cubicBezTo>
                  <a:pt x="0" y="16631"/>
                  <a:pt x="16631" y="0"/>
                  <a:pt x="3711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495652" y="1517970"/>
            <a:ext cx="1215489" cy="222685"/>
          </a:xfrm>
          <a:prstGeom prst="rect">
            <a:avLst/>
          </a:prstGeom>
          <a:noFill/>
          <a:ln/>
        </p:spPr>
        <p:txBody>
          <a:bodyPr wrap="square" lIns="74228" tIns="37114" rIns="74228" bIns="37114" rtlCol="0" anchor="ctr"/>
          <a:lstStyle/>
          <a:p>
            <a:pPr>
              <a:lnSpc>
                <a:spcPct val="110000"/>
              </a:lnSpc>
            </a:pPr>
            <a:r>
              <a:rPr lang="en-US" sz="8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SELECCIONADO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5091" y="1833440"/>
            <a:ext cx="3451616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DCFCE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65091" y="2334481"/>
            <a:ext cx="73300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60227" y="2315924"/>
            <a:ext cx="56599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F17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11.18M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65091" y="2668509"/>
            <a:ext cx="900018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Pre-entrenado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87182" y="2649952"/>
            <a:ext cx="74228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ImageNet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65091" y="3002536"/>
            <a:ext cx="89074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Tiempo/época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320977" y="2983979"/>
            <a:ext cx="40825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~90s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5091" y="3321718"/>
            <a:ext cx="3386667" cy="7423"/>
          </a:xfrm>
          <a:custGeom>
            <a:avLst/>
            <a:gdLst/>
            <a:ahLst/>
            <a:cxnLst/>
            <a:rect l="l" t="t" r="r" b="b"/>
            <a:pathLst>
              <a:path w="3386667" h="7423">
                <a:moveTo>
                  <a:pt x="0" y="0"/>
                </a:moveTo>
                <a:lnTo>
                  <a:pt x="3386667" y="0"/>
                </a:lnTo>
                <a:lnTo>
                  <a:pt x="3386667" y="7423"/>
                </a:lnTo>
                <a:lnTo>
                  <a:pt x="0" y="7423"/>
                </a:lnTo>
                <a:lnTo>
                  <a:pt x="0" y="0"/>
                </a:lnTo>
                <a:close/>
              </a:path>
            </a:pathLst>
          </a:custGeom>
          <a:solidFill>
            <a:srgbClr val="B9F8CF"/>
          </a:solidFill>
          <a:ln/>
        </p:spPr>
      </p:sp>
      <p:sp>
        <p:nvSpPr>
          <p:cNvPr id="55" name="Text 53"/>
          <p:cNvSpPr/>
          <p:nvPr/>
        </p:nvSpPr>
        <p:spPr>
          <a:xfrm>
            <a:off x="8265091" y="3473886"/>
            <a:ext cx="825790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 Accuracy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26036" y="3436772"/>
            <a:ext cx="723726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1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86.83%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65091" y="3733685"/>
            <a:ext cx="3442338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época: 8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68802" y="3997078"/>
            <a:ext cx="3384811" cy="304336"/>
          </a:xfrm>
          <a:custGeom>
            <a:avLst/>
            <a:gdLst/>
            <a:ahLst/>
            <a:cxnLst/>
            <a:rect l="l" t="t" r="r" b="b"/>
            <a:pathLst>
              <a:path w="3384811" h="304336">
                <a:moveTo>
                  <a:pt x="74228" y="0"/>
                </a:moveTo>
                <a:lnTo>
                  <a:pt x="3310583" y="0"/>
                </a:lnTo>
                <a:cubicBezTo>
                  <a:pt x="3351578" y="0"/>
                  <a:pt x="3384811" y="33233"/>
                  <a:pt x="3384811" y="74228"/>
                </a:cubicBezTo>
                <a:lnTo>
                  <a:pt x="3384811" y="230109"/>
                </a:lnTo>
                <a:cubicBezTo>
                  <a:pt x="3384811" y="271103"/>
                  <a:pt x="3351578" y="304336"/>
                  <a:pt x="3310583" y="304336"/>
                </a:cubicBezTo>
                <a:lnTo>
                  <a:pt x="74228" y="304336"/>
                </a:lnTo>
                <a:cubicBezTo>
                  <a:pt x="33233" y="304336"/>
                  <a:pt x="0" y="271103"/>
                  <a:pt x="0" y="230109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F0FDF4"/>
          </a:solidFill>
          <a:ln w="10160">
            <a:solidFill>
              <a:srgbClr val="B9F8C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65091" y="3993367"/>
            <a:ext cx="3433059" cy="296913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>
              <a:lnSpc>
                <a:spcPct val="110000"/>
              </a:lnSpc>
            </a:pPr>
            <a:r>
              <a:rPr lang="en-US" sz="877" b="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Accuracy: 88.67%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Generalización confirmada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74853" y="4716863"/>
            <a:ext cx="11438583" cy="1232190"/>
          </a:xfrm>
          <a:custGeom>
            <a:avLst/>
            <a:gdLst/>
            <a:ahLst/>
            <a:cxnLst/>
            <a:rect l="l" t="t" r="r" b="b"/>
            <a:pathLst>
              <a:path w="11438583" h="1232190">
                <a:moveTo>
                  <a:pt x="111341" y="0"/>
                </a:moveTo>
                <a:lnTo>
                  <a:pt x="11327242" y="0"/>
                </a:lnTo>
                <a:cubicBezTo>
                  <a:pt x="11388734" y="0"/>
                  <a:pt x="11438583" y="49849"/>
                  <a:pt x="11438583" y="111341"/>
                </a:cubicBezTo>
                <a:lnTo>
                  <a:pt x="11438583" y="1120849"/>
                </a:lnTo>
                <a:cubicBezTo>
                  <a:pt x="11438583" y="1182341"/>
                  <a:pt x="11388734" y="1232190"/>
                  <a:pt x="11327242" y="1232190"/>
                </a:cubicBezTo>
                <a:lnTo>
                  <a:pt x="111341" y="1232190"/>
                </a:lnTo>
                <a:cubicBezTo>
                  <a:pt x="49849" y="1232190"/>
                  <a:pt x="0" y="1182341"/>
                  <a:pt x="0" y="1120849"/>
                </a:cubicBezTo>
                <a:lnTo>
                  <a:pt x="0" y="111341"/>
                </a:lnTo>
                <a:cubicBezTo>
                  <a:pt x="0" y="49890"/>
                  <a:pt x="49890" y="0"/>
                  <a:pt x="111341" y="0"/>
                </a:cubicBezTo>
                <a:close/>
              </a:path>
            </a:pathLst>
          </a:custGeom>
          <a:gradFill rotWithShape="1" flip="none">
            <a:gsLst>
              <a:gs pos="0">
                <a:srgbClr val="EEF2FF"/>
              </a:gs>
              <a:gs pos="100000">
                <a:srgbClr val="FAF5FF"/>
              </a:gs>
            </a:gsLst>
            <a:lin ang="0" scaled="1"/>
          </a:gradFill>
          <a:ln w="10160">
            <a:solidFill>
              <a:srgbClr val="C6D2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2692" y="4943257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41840" y="0"/>
                </a:moveTo>
                <a:lnTo>
                  <a:pt x="106790" y="0"/>
                </a:lnTo>
                <a:cubicBezTo>
                  <a:pt x="114474" y="0"/>
                  <a:pt x="120737" y="6321"/>
                  <a:pt x="120447" y="13976"/>
                </a:cubicBezTo>
                <a:cubicBezTo>
                  <a:pt x="120389" y="15513"/>
                  <a:pt x="120331" y="17049"/>
                  <a:pt x="120244" y="18557"/>
                </a:cubicBezTo>
                <a:lnTo>
                  <a:pt x="134626" y="18557"/>
                </a:lnTo>
                <a:cubicBezTo>
                  <a:pt x="142194" y="18557"/>
                  <a:pt x="148863" y="24820"/>
                  <a:pt x="148283" y="32997"/>
                </a:cubicBezTo>
                <a:cubicBezTo>
                  <a:pt x="146108" y="63065"/>
                  <a:pt x="130740" y="79592"/>
                  <a:pt x="114068" y="88233"/>
                </a:cubicBezTo>
                <a:cubicBezTo>
                  <a:pt x="109487" y="90611"/>
                  <a:pt x="104818" y="92379"/>
                  <a:pt x="100382" y="93684"/>
                </a:cubicBezTo>
                <a:cubicBezTo>
                  <a:pt x="94525" y="101977"/>
                  <a:pt x="88436" y="106355"/>
                  <a:pt x="83594" y="108704"/>
                </a:cubicBezTo>
                <a:lnTo>
                  <a:pt x="83594" y="129900"/>
                </a:lnTo>
                <a:lnTo>
                  <a:pt x="102151" y="129900"/>
                </a:lnTo>
                <a:cubicBezTo>
                  <a:pt x="107283" y="129900"/>
                  <a:pt x="111429" y="134046"/>
                  <a:pt x="111429" y="139178"/>
                </a:cubicBezTo>
                <a:cubicBezTo>
                  <a:pt x="111429" y="144310"/>
                  <a:pt x="107283" y="148457"/>
                  <a:pt x="102151" y="148457"/>
                </a:cubicBezTo>
                <a:lnTo>
                  <a:pt x="46480" y="148457"/>
                </a:lnTo>
                <a:cubicBezTo>
                  <a:pt x="41347" y="148457"/>
                  <a:pt x="37201" y="144310"/>
                  <a:pt x="37201" y="139178"/>
                </a:cubicBezTo>
                <a:cubicBezTo>
                  <a:pt x="37201" y="134046"/>
                  <a:pt x="41347" y="129900"/>
                  <a:pt x="46480" y="129900"/>
                </a:cubicBezTo>
                <a:lnTo>
                  <a:pt x="65037" y="129900"/>
                </a:lnTo>
                <a:lnTo>
                  <a:pt x="65037" y="108704"/>
                </a:lnTo>
                <a:cubicBezTo>
                  <a:pt x="60397" y="106471"/>
                  <a:pt x="54627" y="102325"/>
                  <a:pt x="49002" y="94699"/>
                </a:cubicBezTo>
                <a:cubicBezTo>
                  <a:pt x="43667" y="93307"/>
                  <a:pt x="37868" y="91191"/>
                  <a:pt x="32214" y="88001"/>
                </a:cubicBezTo>
                <a:cubicBezTo>
                  <a:pt x="16527" y="79216"/>
                  <a:pt x="2378" y="62659"/>
                  <a:pt x="348" y="32939"/>
                </a:cubicBezTo>
                <a:cubicBezTo>
                  <a:pt x="-203" y="24791"/>
                  <a:pt x="6437" y="18528"/>
                  <a:pt x="14005" y="18528"/>
                </a:cubicBezTo>
                <a:lnTo>
                  <a:pt x="28387" y="18528"/>
                </a:lnTo>
                <a:cubicBezTo>
                  <a:pt x="28300" y="17020"/>
                  <a:pt x="28242" y="15513"/>
                  <a:pt x="28184" y="13947"/>
                </a:cubicBezTo>
                <a:cubicBezTo>
                  <a:pt x="27894" y="6263"/>
                  <a:pt x="34157" y="-29"/>
                  <a:pt x="41840" y="-29"/>
                </a:cubicBezTo>
                <a:close/>
                <a:moveTo>
                  <a:pt x="29430" y="32475"/>
                </a:moveTo>
                <a:lnTo>
                  <a:pt x="14237" y="32475"/>
                </a:lnTo>
                <a:cubicBezTo>
                  <a:pt x="16034" y="57034"/>
                  <a:pt x="27314" y="69328"/>
                  <a:pt x="38941" y="75852"/>
                </a:cubicBezTo>
                <a:cubicBezTo>
                  <a:pt x="34766" y="65037"/>
                  <a:pt x="31315" y="50916"/>
                  <a:pt x="29430" y="32475"/>
                </a:cubicBezTo>
                <a:close/>
                <a:moveTo>
                  <a:pt x="110183" y="74460"/>
                </a:moveTo>
                <a:cubicBezTo>
                  <a:pt x="121926" y="67559"/>
                  <a:pt x="132538" y="55294"/>
                  <a:pt x="134336" y="32475"/>
                </a:cubicBezTo>
                <a:lnTo>
                  <a:pt x="119171" y="32475"/>
                </a:lnTo>
                <a:cubicBezTo>
                  <a:pt x="117374" y="50133"/>
                  <a:pt x="114126" y="63848"/>
                  <a:pt x="110183" y="7446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2" name="Text 60"/>
          <p:cNvSpPr/>
          <p:nvPr/>
        </p:nvSpPr>
        <p:spPr>
          <a:xfrm>
            <a:off x="749706" y="4906143"/>
            <a:ext cx="1094867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¿Por qué ResNet18 fue el modelo final?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64135" y="5240170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1660" y="5240170"/>
            <a:ext cx="361863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72391" y="5240170"/>
            <a:ext cx="32474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Representaciones Pre-entrenadas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72391" y="5462855"/>
            <a:ext cx="3238210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Pesos de ImageNet capturan bordes, texturas y patrones faciales transferibles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00835" y="5240170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268360" y="5240170"/>
            <a:ext cx="361863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709090" y="5240170"/>
            <a:ext cx="32474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Conexiones Residuales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709090" y="5462855"/>
            <a:ext cx="3238210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Skip connections facilitan entrenamiento profundo y previenen degradación de gradiente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037534" y="5240170"/>
            <a:ext cx="296913" cy="296913"/>
          </a:xfrm>
          <a:custGeom>
            <a:avLst/>
            <a:gdLst/>
            <a:ahLst/>
            <a:cxnLst/>
            <a:rect l="l" t="t" r="r" b="b"/>
            <a:pathLst>
              <a:path w="296913" h="296913">
                <a:moveTo>
                  <a:pt x="148457" y="0"/>
                </a:moveTo>
                <a:lnTo>
                  <a:pt x="148457" y="0"/>
                </a:lnTo>
                <a:cubicBezTo>
                  <a:pt x="230392" y="0"/>
                  <a:pt x="296913" y="66521"/>
                  <a:pt x="296913" y="148457"/>
                </a:cubicBezTo>
                <a:lnTo>
                  <a:pt x="296913" y="148457"/>
                </a:lnTo>
                <a:cubicBezTo>
                  <a:pt x="296913" y="230392"/>
                  <a:pt x="230392" y="296913"/>
                  <a:pt x="148457" y="296913"/>
                </a:cubicBezTo>
                <a:lnTo>
                  <a:pt x="148457" y="296913"/>
                </a:lnTo>
                <a:cubicBezTo>
                  <a:pt x="66521" y="296913"/>
                  <a:pt x="0" y="230392"/>
                  <a:pt x="0" y="148457"/>
                </a:cubicBezTo>
                <a:lnTo>
                  <a:pt x="0" y="148457"/>
                </a:lnTo>
                <a:cubicBezTo>
                  <a:pt x="0" y="66521"/>
                  <a:pt x="66521" y="0"/>
                  <a:pt x="148457" y="0"/>
                </a:cubicBez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72" name="Text 70"/>
          <p:cNvSpPr/>
          <p:nvPr/>
        </p:nvSpPr>
        <p:spPr>
          <a:xfrm>
            <a:off x="8005059" y="5240170"/>
            <a:ext cx="361863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45790" y="5240170"/>
            <a:ext cx="32474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Eficiencia Computacional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445790" y="5462855"/>
            <a:ext cx="3238210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24x más rápida que CNN estándar con mejor performance (+3.64% accuracy)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74853" y="6104700"/>
            <a:ext cx="2772427" cy="749706"/>
          </a:xfrm>
          <a:custGeom>
            <a:avLst/>
            <a:gdLst/>
            <a:ahLst/>
            <a:cxnLst/>
            <a:rect l="l" t="t" r="r" b="b"/>
            <a:pathLst>
              <a:path w="2772427" h="749706">
                <a:moveTo>
                  <a:pt x="74228" y="0"/>
                </a:moveTo>
                <a:lnTo>
                  <a:pt x="2698199" y="0"/>
                </a:lnTo>
                <a:cubicBezTo>
                  <a:pt x="2739194" y="0"/>
                  <a:pt x="2772427" y="33233"/>
                  <a:pt x="2772427" y="74228"/>
                </a:cubicBezTo>
                <a:lnTo>
                  <a:pt x="2772427" y="675478"/>
                </a:lnTo>
                <a:cubicBezTo>
                  <a:pt x="2772427" y="716445"/>
                  <a:pt x="2739167" y="749706"/>
                  <a:pt x="2698199" y="749706"/>
                </a:cubicBezTo>
                <a:lnTo>
                  <a:pt x="74228" y="749706"/>
                </a:lnTo>
                <a:cubicBezTo>
                  <a:pt x="33233" y="749706"/>
                  <a:pt x="0" y="716473"/>
                  <a:pt x="0" y="675478"/>
                </a:cubicBezTo>
                <a:lnTo>
                  <a:pt x="0" y="74228"/>
                </a:lnTo>
                <a:cubicBezTo>
                  <a:pt x="0" y="33233"/>
                  <a:pt x="33233" y="0"/>
                  <a:pt x="7422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2071" y="6219754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57432" y="6405207"/>
            <a:ext cx="260726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CrossEntropyLoss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62071" y="6590778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Class Weights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264538" y="6104700"/>
            <a:ext cx="2772427" cy="749706"/>
          </a:xfrm>
          <a:custGeom>
            <a:avLst/>
            <a:gdLst/>
            <a:ahLst/>
            <a:cxnLst/>
            <a:rect l="l" t="t" r="r" b="b"/>
            <a:pathLst>
              <a:path w="2772427" h="749706">
                <a:moveTo>
                  <a:pt x="74228" y="0"/>
                </a:moveTo>
                <a:lnTo>
                  <a:pt x="2698199" y="0"/>
                </a:lnTo>
                <a:cubicBezTo>
                  <a:pt x="2739194" y="0"/>
                  <a:pt x="2772427" y="33233"/>
                  <a:pt x="2772427" y="74228"/>
                </a:cubicBezTo>
                <a:lnTo>
                  <a:pt x="2772427" y="675478"/>
                </a:lnTo>
                <a:cubicBezTo>
                  <a:pt x="2772427" y="716445"/>
                  <a:pt x="2739167" y="749706"/>
                  <a:pt x="2698199" y="749706"/>
                </a:cubicBezTo>
                <a:lnTo>
                  <a:pt x="74228" y="749706"/>
                </a:lnTo>
                <a:cubicBezTo>
                  <a:pt x="33233" y="749706"/>
                  <a:pt x="0" y="716473"/>
                  <a:pt x="0" y="675478"/>
                </a:cubicBezTo>
                <a:lnTo>
                  <a:pt x="0" y="74228"/>
                </a:lnTo>
                <a:cubicBezTo>
                  <a:pt x="0" y="33233"/>
                  <a:pt x="33233" y="0"/>
                  <a:pt x="7422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51756" y="6219754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3347117" y="6405207"/>
            <a:ext cx="260726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Adam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3351756" y="6590778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lr=1e-4, wd=1e-5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54339" y="6104700"/>
            <a:ext cx="2772427" cy="749706"/>
          </a:xfrm>
          <a:custGeom>
            <a:avLst/>
            <a:gdLst/>
            <a:ahLst/>
            <a:cxnLst/>
            <a:rect l="l" t="t" r="r" b="b"/>
            <a:pathLst>
              <a:path w="2772427" h="749706">
                <a:moveTo>
                  <a:pt x="74228" y="0"/>
                </a:moveTo>
                <a:lnTo>
                  <a:pt x="2698199" y="0"/>
                </a:lnTo>
                <a:cubicBezTo>
                  <a:pt x="2739194" y="0"/>
                  <a:pt x="2772427" y="33233"/>
                  <a:pt x="2772427" y="74228"/>
                </a:cubicBezTo>
                <a:lnTo>
                  <a:pt x="2772427" y="675478"/>
                </a:lnTo>
                <a:cubicBezTo>
                  <a:pt x="2772427" y="716445"/>
                  <a:pt x="2739167" y="749706"/>
                  <a:pt x="2698199" y="749706"/>
                </a:cubicBezTo>
                <a:lnTo>
                  <a:pt x="74228" y="749706"/>
                </a:lnTo>
                <a:cubicBezTo>
                  <a:pt x="33233" y="749706"/>
                  <a:pt x="0" y="716473"/>
                  <a:pt x="0" y="675478"/>
                </a:cubicBezTo>
                <a:lnTo>
                  <a:pt x="0" y="74228"/>
                </a:lnTo>
                <a:cubicBezTo>
                  <a:pt x="0" y="33233"/>
                  <a:pt x="33233" y="0"/>
                  <a:pt x="7422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41557" y="6219754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236918" y="6405207"/>
            <a:ext cx="260726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241557" y="6590778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044024" y="6104700"/>
            <a:ext cx="2772427" cy="749706"/>
          </a:xfrm>
          <a:custGeom>
            <a:avLst/>
            <a:gdLst/>
            <a:ahLst/>
            <a:cxnLst/>
            <a:rect l="l" t="t" r="r" b="b"/>
            <a:pathLst>
              <a:path w="2772427" h="749706">
                <a:moveTo>
                  <a:pt x="74228" y="0"/>
                </a:moveTo>
                <a:lnTo>
                  <a:pt x="2698199" y="0"/>
                </a:lnTo>
                <a:cubicBezTo>
                  <a:pt x="2739194" y="0"/>
                  <a:pt x="2772427" y="33233"/>
                  <a:pt x="2772427" y="74228"/>
                </a:cubicBezTo>
                <a:lnTo>
                  <a:pt x="2772427" y="675478"/>
                </a:lnTo>
                <a:cubicBezTo>
                  <a:pt x="2772427" y="716445"/>
                  <a:pt x="2739167" y="749706"/>
                  <a:pt x="2698199" y="749706"/>
                </a:cubicBezTo>
                <a:lnTo>
                  <a:pt x="74228" y="749706"/>
                </a:lnTo>
                <a:cubicBezTo>
                  <a:pt x="33233" y="749706"/>
                  <a:pt x="0" y="716473"/>
                  <a:pt x="0" y="675478"/>
                </a:cubicBezTo>
                <a:lnTo>
                  <a:pt x="0" y="74228"/>
                </a:lnTo>
                <a:cubicBezTo>
                  <a:pt x="0" y="33233"/>
                  <a:pt x="33233" y="0"/>
                  <a:pt x="7422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31242" y="6219754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Épocas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126603" y="6405207"/>
            <a:ext cx="260726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131242" y="6590778"/>
            <a:ext cx="2597991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Early Stopping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334945"/>
            <a:ext cx="2411604" cy="301451"/>
          </a:xfrm>
          <a:custGeom>
            <a:avLst/>
            <a:gdLst/>
            <a:ahLst/>
            <a:cxnLst/>
            <a:rect l="l" t="t" r="r" b="b"/>
            <a:pathLst>
              <a:path w="2411604" h="301451">
                <a:moveTo>
                  <a:pt x="150725" y="0"/>
                </a:moveTo>
                <a:lnTo>
                  <a:pt x="2260879" y="0"/>
                </a:lnTo>
                <a:cubicBezTo>
                  <a:pt x="2344122" y="0"/>
                  <a:pt x="2411604" y="67482"/>
                  <a:pt x="2411604" y="150725"/>
                </a:cubicBezTo>
                <a:lnTo>
                  <a:pt x="2411604" y="150725"/>
                </a:lnTo>
                <a:cubicBezTo>
                  <a:pt x="2411604" y="233969"/>
                  <a:pt x="2344122" y="301451"/>
                  <a:pt x="2260879" y="301451"/>
                </a:cubicBezTo>
                <a:lnTo>
                  <a:pt x="150725" y="301451"/>
                </a:lnTo>
                <a:cubicBezTo>
                  <a:pt x="67538" y="301451"/>
                  <a:pt x="0" y="233913"/>
                  <a:pt x="0" y="150725"/>
                </a:cubicBezTo>
                <a:lnTo>
                  <a:pt x="0" y="150725"/>
                </a:lnTo>
                <a:cubicBezTo>
                  <a:pt x="0" y="67538"/>
                  <a:pt x="67538" y="0"/>
                  <a:pt x="150725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3" name="Shape 1"/>
          <p:cNvSpPr/>
          <p:nvPr/>
        </p:nvSpPr>
        <p:spPr>
          <a:xfrm>
            <a:off x="468923" y="418681"/>
            <a:ext cx="167473" cy="133978"/>
          </a:xfrm>
          <a:custGeom>
            <a:avLst/>
            <a:gdLst/>
            <a:ahLst/>
            <a:cxnLst/>
            <a:rect l="l" t="t" r="r" b="b"/>
            <a:pathLst>
              <a:path w="167473" h="133978">
                <a:moveTo>
                  <a:pt x="100484" y="8374"/>
                </a:moveTo>
                <a:lnTo>
                  <a:pt x="133978" y="8374"/>
                </a:lnTo>
                <a:cubicBezTo>
                  <a:pt x="138610" y="8374"/>
                  <a:pt x="142352" y="12116"/>
                  <a:pt x="142352" y="16747"/>
                </a:cubicBezTo>
                <a:cubicBezTo>
                  <a:pt x="142352" y="21379"/>
                  <a:pt x="138610" y="25121"/>
                  <a:pt x="133978" y="25121"/>
                </a:cubicBezTo>
                <a:lnTo>
                  <a:pt x="104252" y="25121"/>
                </a:lnTo>
                <a:cubicBezTo>
                  <a:pt x="102891" y="31872"/>
                  <a:pt x="98259" y="37446"/>
                  <a:pt x="92110" y="40115"/>
                </a:cubicBezTo>
                <a:lnTo>
                  <a:pt x="92110" y="117231"/>
                </a:lnTo>
                <a:lnTo>
                  <a:pt x="133978" y="117231"/>
                </a:lnTo>
                <a:cubicBezTo>
                  <a:pt x="138610" y="117231"/>
                  <a:pt x="142352" y="120973"/>
                  <a:pt x="142352" y="125604"/>
                </a:cubicBezTo>
                <a:cubicBezTo>
                  <a:pt x="142352" y="130236"/>
                  <a:pt x="138610" y="133978"/>
                  <a:pt x="133978" y="133978"/>
                </a:cubicBezTo>
                <a:lnTo>
                  <a:pt x="33495" y="133978"/>
                </a:lnTo>
                <a:cubicBezTo>
                  <a:pt x="28863" y="133978"/>
                  <a:pt x="25121" y="130236"/>
                  <a:pt x="25121" y="125604"/>
                </a:cubicBezTo>
                <a:cubicBezTo>
                  <a:pt x="25121" y="120973"/>
                  <a:pt x="28863" y="117231"/>
                  <a:pt x="33495" y="117231"/>
                </a:cubicBezTo>
                <a:lnTo>
                  <a:pt x="75363" y="117231"/>
                </a:lnTo>
                <a:lnTo>
                  <a:pt x="75363" y="40115"/>
                </a:lnTo>
                <a:cubicBezTo>
                  <a:pt x="69213" y="37420"/>
                  <a:pt x="64582" y="31846"/>
                  <a:pt x="63221" y="25121"/>
                </a:cubicBezTo>
                <a:lnTo>
                  <a:pt x="33495" y="25121"/>
                </a:lnTo>
                <a:cubicBezTo>
                  <a:pt x="28863" y="25121"/>
                  <a:pt x="25121" y="21379"/>
                  <a:pt x="25121" y="16747"/>
                </a:cubicBezTo>
                <a:cubicBezTo>
                  <a:pt x="25121" y="12116"/>
                  <a:pt x="28863" y="8374"/>
                  <a:pt x="33495" y="8374"/>
                </a:cubicBezTo>
                <a:lnTo>
                  <a:pt x="66989" y="8374"/>
                </a:lnTo>
                <a:cubicBezTo>
                  <a:pt x="70809" y="3297"/>
                  <a:pt x="76880" y="0"/>
                  <a:pt x="83736" y="0"/>
                </a:cubicBezTo>
                <a:cubicBezTo>
                  <a:pt x="90592" y="0"/>
                  <a:pt x="96663" y="3297"/>
                  <a:pt x="100484" y="8374"/>
                </a:cubicBezTo>
                <a:close/>
                <a:moveTo>
                  <a:pt x="115033" y="83736"/>
                </a:moveTo>
                <a:lnTo>
                  <a:pt x="152923" y="83736"/>
                </a:lnTo>
                <a:lnTo>
                  <a:pt x="133978" y="51236"/>
                </a:lnTo>
                <a:lnTo>
                  <a:pt x="115033" y="83736"/>
                </a:lnTo>
                <a:close/>
                <a:moveTo>
                  <a:pt x="133978" y="108857"/>
                </a:moveTo>
                <a:cubicBezTo>
                  <a:pt x="117519" y="108857"/>
                  <a:pt x="103833" y="99960"/>
                  <a:pt x="101007" y="88211"/>
                </a:cubicBezTo>
                <a:cubicBezTo>
                  <a:pt x="100327" y="85332"/>
                  <a:pt x="101269" y="82376"/>
                  <a:pt x="102760" y="79811"/>
                </a:cubicBezTo>
                <a:lnTo>
                  <a:pt x="127672" y="37106"/>
                </a:lnTo>
                <a:cubicBezTo>
                  <a:pt x="128980" y="34855"/>
                  <a:pt x="131387" y="33495"/>
                  <a:pt x="133978" y="33495"/>
                </a:cubicBezTo>
                <a:cubicBezTo>
                  <a:pt x="136569" y="33495"/>
                  <a:pt x="138976" y="34881"/>
                  <a:pt x="140284" y="37106"/>
                </a:cubicBezTo>
                <a:lnTo>
                  <a:pt x="165196" y="79811"/>
                </a:lnTo>
                <a:cubicBezTo>
                  <a:pt x="166688" y="82376"/>
                  <a:pt x="167630" y="85332"/>
                  <a:pt x="166949" y="88211"/>
                </a:cubicBezTo>
                <a:cubicBezTo>
                  <a:pt x="164123" y="99934"/>
                  <a:pt x="150437" y="108857"/>
                  <a:pt x="133978" y="108857"/>
                </a:cubicBezTo>
                <a:close/>
                <a:moveTo>
                  <a:pt x="33180" y="51236"/>
                </a:moveTo>
                <a:lnTo>
                  <a:pt x="14235" y="83736"/>
                </a:lnTo>
                <a:lnTo>
                  <a:pt x="52152" y="83736"/>
                </a:lnTo>
                <a:lnTo>
                  <a:pt x="33180" y="51236"/>
                </a:lnTo>
                <a:close/>
                <a:moveTo>
                  <a:pt x="236" y="88211"/>
                </a:moveTo>
                <a:cubicBezTo>
                  <a:pt x="-445" y="85332"/>
                  <a:pt x="497" y="82376"/>
                  <a:pt x="1989" y="79811"/>
                </a:cubicBezTo>
                <a:lnTo>
                  <a:pt x="26900" y="37106"/>
                </a:lnTo>
                <a:cubicBezTo>
                  <a:pt x="28209" y="34855"/>
                  <a:pt x="30616" y="33495"/>
                  <a:pt x="33207" y="33495"/>
                </a:cubicBezTo>
                <a:cubicBezTo>
                  <a:pt x="35797" y="33495"/>
                  <a:pt x="38205" y="34881"/>
                  <a:pt x="39513" y="37106"/>
                </a:cubicBezTo>
                <a:lnTo>
                  <a:pt x="64425" y="79811"/>
                </a:lnTo>
                <a:cubicBezTo>
                  <a:pt x="65916" y="82376"/>
                  <a:pt x="66858" y="85332"/>
                  <a:pt x="66178" y="88211"/>
                </a:cubicBezTo>
                <a:cubicBezTo>
                  <a:pt x="63352" y="99934"/>
                  <a:pt x="49666" y="108857"/>
                  <a:pt x="33207" y="108857"/>
                </a:cubicBezTo>
                <a:cubicBezTo>
                  <a:pt x="16747" y="108857"/>
                  <a:pt x="3062" y="99960"/>
                  <a:pt x="236" y="88211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4" name="Text 2"/>
          <p:cNvSpPr/>
          <p:nvPr/>
        </p:nvSpPr>
        <p:spPr>
          <a:xfrm>
            <a:off x="703385" y="401934"/>
            <a:ext cx="1967802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DE DATOS COMPLEJOS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4945" y="736879"/>
            <a:ext cx="11672835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Desbalance de Clases y Métricas de Negocio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295" y="1209152"/>
            <a:ext cx="5667270" cy="2719754"/>
          </a:xfrm>
          <a:custGeom>
            <a:avLst/>
            <a:gdLst/>
            <a:ahLst/>
            <a:cxnLst/>
            <a:rect l="l" t="t" r="r" b="b"/>
            <a:pathLst>
              <a:path w="5667270" h="2719754">
                <a:moveTo>
                  <a:pt x="100495" y="0"/>
                </a:moveTo>
                <a:lnTo>
                  <a:pt x="5566775" y="0"/>
                </a:lnTo>
                <a:cubicBezTo>
                  <a:pt x="5622277" y="0"/>
                  <a:pt x="5667270" y="44993"/>
                  <a:pt x="5667270" y="100495"/>
                </a:cubicBezTo>
                <a:lnTo>
                  <a:pt x="5667270" y="2619259"/>
                </a:lnTo>
                <a:cubicBezTo>
                  <a:pt x="5667270" y="2674761"/>
                  <a:pt x="5622277" y="2719754"/>
                  <a:pt x="5566775" y="2719754"/>
                </a:cubicBezTo>
                <a:lnTo>
                  <a:pt x="100495" y="2719754"/>
                </a:lnTo>
                <a:cubicBezTo>
                  <a:pt x="44993" y="2719754"/>
                  <a:pt x="0" y="2674761"/>
                  <a:pt x="0" y="2619259"/>
                </a:cubicBezTo>
                <a:lnTo>
                  <a:pt x="0" y="100495"/>
                </a:lnTo>
                <a:cubicBezTo>
                  <a:pt x="0" y="45030"/>
                  <a:pt x="45030" y="0"/>
                  <a:pt x="1004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2F2"/>
              </a:gs>
              <a:gs pos="100000">
                <a:srgbClr val="FFF7ED"/>
              </a:gs>
            </a:gsLst>
            <a:lin ang="2700000" scaled="1"/>
          </a:gradFill>
          <a:ln w="10160">
            <a:solidFill>
              <a:srgbClr val="FF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237" y="1480458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87923" y="37681"/>
                </a:moveTo>
                <a:cubicBezTo>
                  <a:pt x="87923" y="30749"/>
                  <a:pt x="93551" y="25121"/>
                  <a:pt x="100484" y="25121"/>
                </a:cubicBezTo>
                <a:cubicBezTo>
                  <a:pt x="107416" y="25121"/>
                  <a:pt x="113044" y="30749"/>
                  <a:pt x="113044" y="37681"/>
                </a:cubicBezTo>
                <a:cubicBezTo>
                  <a:pt x="113044" y="44614"/>
                  <a:pt x="107416" y="50242"/>
                  <a:pt x="100484" y="50242"/>
                </a:cubicBezTo>
                <a:cubicBezTo>
                  <a:pt x="93551" y="50242"/>
                  <a:pt x="87923" y="44614"/>
                  <a:pt x="87923" y="37681"/>
                </a:cubicBezTo>
                <a:close/>
                <a:moveTo>
                  <a:pt x="136006" y="50242"/>
                </a:moveTo>
                <a:cubicBezTo>
                  <a:pt x="137380" y="46317"/>
                  <a:pt x="138165" y="42077"/>
                  <a:pt x="138165" y="37681"/>
                </a:cubicBezTo>
                <a:cubicBezTo>
                  <a:pt x="138165" y="16878"/>
                  <a:pt x="121287" y="0"/>
                  <a:pt x="100484" y="0"/>
                </a:cubicBezTo>
                <a:cubicBezTo>
                  <a:pt x="79680" y="0"/>
                  <a:pt x="62802" y="16878"/>
                  <a:pt x="62802" y="37681"/>
                </a:cubicBezTo>
                <a:cubicBezTo>
                  <a:pt x="62802" y="42077"/>
                  <a:pt x="63548" y="46317"/>
                  <a:pt x="64961" y="50242"/>
                </a:cubicBezTo>
                <a:lnTo>
                  <a:pt x="56404" y="50242"/>
                </a:lnTo>
                <a:cubicBezTo>
                  <a:pt x="45296" y="50242"/>
                  <a:pt x="35522" y="57503"/>
                  <a:pt x="32343" y="68140"/>
                </a:cubicBezTo>
                <a:lnTo>
                  <a:pt x="942" y="172785"/>
                </a:lnTo>
                <a:cubicBezTo>
                  <a:pt x="314" y="174826"/>
                  <a:pt x="0" y="176945"/>
                  <a:pt x="0" y="179065"/>
                </a:cubicBezTo>
                <a:cubicBezTo>
                  <a:pt x="0" y="191154"/>
                  <a:pt x="9813" y="200967"/>
                  <a:pt x="21902" y="200967"/>
                </a:cubicBezTo>
                <a:lnTo>
                  <a:pt x="179065" y="200967"/>
                </a:lnTo>
                <a:cubicBezTo>
                  <a:pt x="191154" y="200967"/>
                  <a:pt x="200967" y="191154"/>
                  <a:pt x="200967" y="179065"/>
                </a:cubicBezTo>
                <a:cubicBezTo>
                  <a:pt x="200967" y="176945"/>
                  <a:pt x="200653" y="174826"/>
                  <a:pt x="200025" y="172785"/>
                </a:cubicBezTo>
                <a:lnTo>
                  <a:pt x="168624" y="68180"/>
                </a:lnTo>
                <a:cubicBezTo>
                  <a:pt x="165445" y="57543"/>
                  <a:pt x="155671" y="50281"/>
                  <a:pt x="144563" y="50281"/>
                </a:cubicBezTo>
                <a:lnTo>
                  <a:pt x="136006" y="50281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860809" y="1379974"/>
            <a:ext cx="273817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 de Ponderación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0809" y="1614436"/>
            <a:ext cx="272142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CrossEntropyLoss con pesos inversos a frecuencia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116" y="1915886"/>
            <a:ext cx="5325626" cy="1205802"/>
          </a:xfrm>
          <a:custGeom>
            <a:avLst/>
            <a:gdLst/>
            <a:ahLst/>
            <a:cxnLst/>
            <a:rect l="l" t="t" r="r" b="b"/>
            <a:pathLst>
              <a:path w="5325626" h="1205802">
                <a:moveTo>
                  <a:pt x="66994" y="0"/>
                </a:moveTo>
                <a:lnTo>
                  <a:pt x="5258632" y="0"/>
                </a:lnTo>
                <a:cubicBezTo>
                  <a:pt x="5295632" y="0"/>
                  <a:pt x="5325626" y="29994"/>
                  <a:pt x="5325626" y="66994"/>
                </a:cubicBezTo>
                <a:lnTo>
                  <a:pt x="5325626" y="1138808"/>
                </a:lnTo>
                <a:cubicBezTo>
                  <a:pt x="5325626" y="1175808"/>
                  <a:pt x="5295632" y="1205802"/>
                  <a:pt x="5258632" y="1205802"/>
                </a:cubicBezTo>
                <a:lnTo>
                  <a:pt x="66994" y="1205802"/>
                </a:lnTo>
                <a:cubicBezTo>
                  <a:pt x="29994" y="1205802"/>
                  <a:pt x="0" y="1175808"/>
                  <a:pt x="0" y="1138808"/>
                </a:cubicBezTo>
                <a:lnTo>
                  <a:pt x="0" y="66994"/>
                </a:lnTo>
                <a:cubicBezTo>
                  <a:pt x="0" y="30019"/>
                  <a:pt x="30019" y="0"/>
                  <a:pt x="669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13787" y="2049864"/>
            <a:ext cx="5116286" cy="468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</a:t>
            </a:r>
            <a:pPr algn="ctr">
              <a:lnSpc>
                <a:spcPct val="120000"/>
              </a:lnSpc>
            </a:pPr>
            <a:r>
              <a:rPr lang="en-US" sz="692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</a:t>
            </a:r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N / (2·N</a:t>
            </a:r>
            <a:pPr algn="ctr">
              <a:lnSpc>
                <a:spcPct val="120000"/>
              </a:lnSpc>
            </a:pPr>
            <a:r>
              <a:rPr lang="en-US" sz="692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</a:t>
            </a:r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≈ </a:t>
            </a:r>
            <a:pPr algn="ctr">
              <a:lnSpc>
                <a:spcPct val="120000"/>
              </a:lnSpc>
            </a:pPr>
            <a:r>
              <a:rPr lang="en-US" sz="1187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2.92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</a:t>
            </a:r>
            <a:pPr algn="ctr">
              <a:lnSpc>
                <a:spcPct val="120000"/>
              </a:lnSpc>
            </a:pPr>
            <a:r>
              <a:rPr lang="en-US" sz="692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fake</a:t>
            </a:r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N / (2·N</a:t>
            </a:r>
            <a:pPr algn="ctr">
              <a:lnSpc>
                <a:spcPct val="120000"/>
              </a:lnSpc>
            </a:pPr>
            <a:r>
              <a:rPr lang="en-US" sz="692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fake</a:t>
            </a:r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≈ </a:t>
            </a:r>
            <a:pPr algn="ctr">
              <a:lnSpc>
                <a:spcPct val="120000"/>
              </a:lnSpc>
            </a:pPr>
            <a:r>
              <a:rPr lang="en-US" sz="1187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0.60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095" y="2619271"/>
            <a:ext cx="2512088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Real (minoritaria)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3095" y="2786639"/>
            <a:ext cx="2461846" cy="200967"/>
          </a:xfrm>
          <a:custGeom>
            <a:avLst/>
            <a:gdLst/>
            <a:ahLst/>
            <a:cxnLst/>
            <a:rect l="l" t="t" r="r" b="b"/>
            <a:pathLst>
              <a:path w="2461846" h="200967">
                <a:moveTo>
                  <a:pt x="100484" y="0"/>
                </a:moveTo>
                <a:lnTo>
                  <a:pt x="2361363" y="0"/>
                </a:lnTo>
                <a:cubicBezTo>
                  <a:pt x="2416821" y="0"/>
                  <a:pt x="2461846" y="45025"/>
                  <a:pt x="2461846" y="100484"/>
                </a:cubicBezTo>
                <a:lnTo>
                  <a:pt x="2461846" y="100484"/>
                </a:lnTo>
                <a:cubicBezTo>
                  <a:pt x="2461846" y="155942"/>
                  <a:pt x="2416821" y="200967"/>
                  <a:pt x="2361363" y="200967"/>
                </a:cubicBezTo>
                <a:lnTo>
                  <a:pt x="100484" y="200967"/>
                </a:lnTo>
                <a:cubicBezTo>
                  <a:pt x="45025" y="200967"/>
                  <a:pt x="0" y="155942"/>
                  <a:pt x="0" y="100484"/>
                </a:cubicBezTo>
                <a:lnTo>
                  <a:pt x="0" y="100484"/>
                </a:lnTo>
                <a:cubicBezTo>
                  <a:pt x="0" y="45025"/>
                  <a:pt x="45025" y="0"/>
                  <a:pt x="100484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095" y="2786639"/>
            <a:ext cx="2461846" cy="200967"/>
          </a:xfrm>
          <a:custGeom>
            <a:avLst/>
            <a:gdLst/>
            <a:ahLst/>
            <a:cxnLst/>
            <a:rect l="l" t="t" r="r" b="b"/>
            <a:pathLst>
              <a:path w="2461846" h="200967">
                <a:moveTo>
                  <a:pt x="100484" y="0"/>
                </a:moveTo>
                <a:lnTo>
                  <a:pt x="2361363" y="0"/>
                </a:lnTo>
                <a:cubicBezTo>
                  <a:pt x="2416821" y="0"/>
                  <a:pt x="2461846" y="45025"/>
                  <a:pt x="2461846" y="100484"/>
                </a:cubicBezTo>
                <a:lnTo>
                  <a:pt x="2461846" y="100484"/>
                </a:lnTo>
                <a:cubicBezTo>
                  <a:pt x="2461846" y="155942"/>
                  <a:pt x="2416821" y="200967"/>
                  <a:pt x="2361363" y="200967"/>
                </a:cubicBezTo>
                <a:lnTo>
                  <a:pt x="100484" y="200967"/>
                </a:lnTo>
                <a:cubicBezTo>
                  <a:pt x="45025" y="200967"/>
                  <a:pt x="0" y="155942"/>
                  <a:pt x="0" y="100484"/>
                </a:cubicBezTo>
                <a:lnTo>
                  <a:pt x="0" y="100484"/>
                </a:lnTo>
                <a:cubicBezTo>
                  <a:pt x="0" y="45025"/>
                  <a:pt x="45025" y="0"/>
                  <a:pt x="100484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974" y="2786639"/>
            <a:ext cx="251208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2.92x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0593" y="2619271"/>
            <a:ext cx="2512088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Fake (majoritaria)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0593" y="2786639"/>
            <a:ext cx="2461846" cy="200967"/>
          </a:xfrm>
          <a:custGeom>
            <a:avLst/>
            <a:gdLst/>
            <a:ahLst/>
            <a:cxnLst/>
            <a:rect l="l" t="t" r="r" b="b"/>
            <a:pathLst>
              <a:path w="2461846" h="200967">
                <a:moveTo>
                  <a:pt x="100484" y="0"/>
                </a:moveTo>
                <a:lnTo>
                  <a:pt x="2361363" y="0"/>
                </a:lnTo>
                <a:cubicBezTo>
                  <a:pt x="2416821" y="0"/>
                  <a:pt x="2461846" y="45025"/>
                  <a:pt x="2461846" y="100484"/>
                </a:cubicBezTo>
                <a:lnTo>
                  <a:pt x="2461846" y="100484"/>
                </a:lnTo>
                <a:cubicBezTo>
                  <a:pt x="2461846" y="155942"/>
                  <a:pt x="2416821" y="200967"/>
                  <a:pt x="2361363" y="200967"/>
                </a:cubicBezTo>
                <a:lnTo>
                  <a:pt x="100484" y="200967"/>
                </a:lnTo>
                <a:cubicBezTo>
                  <a:pt x="45025" y="200967"/>
                  <a:pt x="0" y="155942"/>
                  <a:pt x="0" y="100484"/>
                </a:cubicBezTo>
                <a:lnTo>
                  <a:pt x="0" y="100484"/>
                </a:lnTo>
                <a:cubicBezTo>
                  <a:pt x="0" y="45025"/>
                  <a:pt x="45025" y="0"/>
                  <a:pt x="100484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0593" y="2786639"/>
            <a:ext cx="494044" cy="200967"/>
          </a:xfrm>
          <a:custGeom>
            <a:avLst/>
            <a:gdLst/>
            <a:ahLst/>
            <a:cxnLst/>
            <a:rect l="l" t="t" r="r" b="b"/>
            <a:pathLst>
              <a:path w="494044" h="200967">
                <a:moveTo>
                  <a:pt x="100484" y="0"/>
                </a:moveTo>
                <a:lnTo>
                  <a:pt x="393560" y="0"/>
                </a:lnTo>
                <a:cubicBezTo>
                  <a:pt x="449019" y="0"/>
                  <a:pt x="494044" y="45025"/>
                  <a:pt x="494044" y="100484"/>
                </a:cubicBezTo>
                <a:lnTo>
                  <a:pt x="494044" y="100484"/>
                </a:lnTo>
                <a:cubicBezTo>
                  <a:pt x="494044" y="155942"/>
                  <a:pt x="449019" y="200967"/>
                  <a:pt x="393560" y="200967"/>
                </a:cubicBezTo>
                <a:lnTo>
                  <a:pt x="100484" y="200967"/>
                </a:lnTo>
                <a:cubicBezTo>
                  <a:pt x="45025" y="200967"/>
                  <a:pt x="0" y="155942"/>
                  <a:pt x="0" y="100484"/>
                </a:cubicBezTo>
                <a:lnTo>
                  <a:pt x="0" y="100484"/>
                </a:lnTo>
                <a:cubicBezTo>
                  <a:pt x="0" y="45025"/>
                  <a:pt x="45025" y="0"/>
                  <a:pt x="100484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9" name="Text 17"/>
          <p:cNvSpPr/>
          <p:nvPr/>
        </p:nvSpPr>
        <p:spPr>
          <a:xfrm>
            <a:off x="3215473" y="2786639"/>
            <a:ext cx="54428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0.60x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9116" y="3222068"/>
            <a:ext cx="5325626" cy="535912"/>
          </a:xfrm>
          <a:custGeom>
            <a:avLst/>
            <a:gdLst/>
            <a:ahLst/>
            <a:cxnLst/>
            <a:rect l="l" t="t" r="r" b="b"/>
            <a:pathLst>
              <a:path w="5325626" h="535912">
                <a:moveTo>
                  <a:pt x="66989" y="0"/>
                </a:moveTo>
                <a:lnTo>
                  <a:pt x="5258637" y="0"/>
                </a:lnTo>
                <a:cubicBezTo>
                  <a:pt x="5295634" y="0"/>
                  <a:pt x="5325626" y="29992"/>
                  <a:pt x="5325626" y="66989"/>
                </a:cubicBezTo>
                <a:lnTo>
                  <a:pt x="5325626" y="468923"/>
                </a:lnTo>
                <a:cubicBezTo>
                  <a:pt x="5325626" y="505920"/>
                  <a:pt x="5295634" y="535912"/>
                  <a:pt x="5258637" y="535912"/>
                </a:cubicBezTo>
                <a:lnTo>
                  <a:pt x="66989" y="535912"/>
                </a:lnTo>
                <a:cubicBezTo>
                  <a:pt x="29992" y="535912"/>
                  <a:pt x="0" y="505920"/>
                  <a:pt x="0" y="468923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9116" y="3222068"/>
            <a:ext cx="5384242" cy="535912"/>
          </a:xfrm>
          <a:prstGeom prst="rect">
            <a:avLst/>
          </a:prstGeom>
          <a:noFill/>
          <a:ln/>
        </p:spPr>
        <p:txBody>
          <a:bodyPr wrap="square" lIns="100484" tIns="100484" rIns="100484" bIns="100484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Penalizar más fuertemente los errores en clase minoritaria (real), evitando que el modelo colapse a predecir siempre "fake"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8295" y="4069479"/>
            <a:ext cx="5667270" cy="2016369"/>
          </a:xfrm>
          <a:custGeom>
            <a:avLst/>
            <a:gdLst/>
            <a:ahLst/>
            <a:cxnLst/>
            <a:rect l="l" t="t" r="r" b="b"/>
            <a:pathLst>
              <a:path w="5667270" h="2016369">
                <a:moveTo>
                  <a:pt x="100476" y="0"/>
                </a:moveTo>
                <a:lnTo>
                  <a:pt x="5566795" y="0"/>
                </a:lnTo>
                <a:cubicBezTo>
                  <a:pt x="5622286" y="0"/>
                  <a:pt x="5667270" y="44984"/>
                  <a:pt x="5667270" y="100476"/>
                </a:cubicBezTo>
                <a:lnTo>
                  <a:pt x="5667270" y="1915894"/>
                </a:lnTo>
                <a:cubicBezTo>
                  <a:pt x="5667270" y="1971385"/>
                  <a:pt x="5622286" y="2016369"/>
                  <a:pt x="5566795" y="2016369"/>
                </a:cubicBezTo>
                <a:lnTo>
                  <a:pt x="100476" y="2016369"/>
                </a:lnTo>
                <a:cubicBezTo>
                  <a:pt x="44984" y="2016369"/>
                  <a:pt x="0" y="1971385"/>
                  <a:pt x="0" y="1915894"/>
                </a:cubicBezTo>
                <a:lnTo>
                  <a:pt x="0" y="100476"/>
                </a:lnTo>
                <a:cubicBezTo>
                  <a:pt x="0" y="44984"/>
                  <a:pt x="44984" y="0"/>
                  <a:pt x="10047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5121" dist="8374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864" y="4273794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6747" y="16747"/>
                </a:moveTo>
                <a:cubicBezTo>
                  <a:pt x="16747" y="12116"/>
                  <a:pt x="13005" y="8374"/>
                  <a:pt x="8374" y="8374"/>
                </a:cubicBezTo>
                <a:cubicBezTo>
                  <a:pt x="3742" y="8374"/>
                  <a:pt x="0" y="12116"/>
                  <a:pt x="0" y="16747"/>
                </a:cubicBezTo>
                <a:lnTo>
                  <a:pt x="0" y="104670"/>
                </a:lnTo>
                <a:cubicBezTo>
                  <a:pt x="0" y="116236"/>
                  <a:pt x="9368" y="125604"/>
                  <a:pt x="20934" y="125604"/>
                </a:cubicBezTo>
                <a:lnTo>
                  <a:pt x="125604" y="125604"/>
                </a:lnTo>
                <a:cubicBezTo>
                  <a:pt x="130236" y="125604"/>
                  <a:pt x="133978" y="121862"/>
                  <a:pt x="133978" y="117231"/>
                </a:cubicBezTo>
                <a:cubicBezTo>
                  <a:pt x="133978" y="112599"/>
                  <a:pt x="130236" y="108857"/>
                  <a:pt x="125604" y="108857"/>
                </a:cubicBezTo>
                <a:lnTo>
                  <a:pt x="20934" y="108857"/>
                </a:lnTo>
                <a:cubicBezTo>
                  <a:pt x="18631" y="108857"/>
                  <a:pt x="16747" y="106973"/>
                  <a:pt x="16747" y="104670"/>
                </a:cubicBezTo>
                <a:lnTo>
                  <a:pt x="16747" y="16747"/>
                </a:lnTo>
                <a:close/>
                <a:moveTo>
                  <a:pt x="123145" y="39408"/>
                </a:moveTo>
                <a:cubicBezTo>
                  <a:pt x="126416" y="36137"/>
                  <a:pt x="126416" y="30825"/>
                  <a:pt x="123145" y="27554"/>
                </a:cubicBezTo>
                <a:cubicBezTo>
                  <a:pt x="119874" y="24284"/>
                  <a:pt x="114562" y="24284"/>
                  <a:pt x="111291" y="27554"/>
                </a:cubicBezTo>
                <a:lnTo>
                  <a:pt x="83736" y="55135"/>
                </a:lnTo>
                <a:lnTo>
                  <a:pt x="68716" y="40141"/>
                </a:lnTo>
                <a:cubicBezTo>
                  <a:pt x="65445" y="36870"/>
                  <a:pt x="60133" y="36870"/>
                  <a:pt x="56862" y="40141"/>
                </a:cubicBezTo>
                <a:lnTo>
                  <a:pt x="31741" y="65262"/>
                </a:lnTo>
                <a:cubicBezTo>
                  <a:pt x="28470" y="68533"/>
                  <a:pt x="28470" y="73845"/>
                  <a:pt x="31741" y="77116"/>
                </a:cubicBezTo>
                <a:cubicBezTo>
                  <a:pt x="35012" y="80387"/>
                  <a:pt x="40324" y="80387"/>
                  <a:pt x="43595" y="77116"/>
                </a:cubicBezTo>
                <a:lnTo>
                  <a:pt x="62802" y="57909"/>
                </a:lnTo>
                <a:lnTo>
                  <a:pt x="77822" y="72929"/>
                </a:lnTo>
                <a:cubicBezTo>
                  <a:pt x="81093" y="76200"/>
                  <a:pt x="86405" y="76200"/>
                  <a:pt x="89676" y="72929"/>
                </a:cubicBezTo>
                <a:lnTo>
                  <a:pt x="123171" y="39435"/>
                </a:ln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589" y="4240299"/>
            <a:ext cx="522514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Matriz de Confusión - Test Set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9116" y="4541750"/>
            <a:ext cx="1733341" cy="301451"/>
          </a:xfrm>
          <a:custGeom>
            <a:avLst/>
            <a:gdLst/>
            <a:ahLst/>
            <a:cxnLst/>
            <a:rect l="l" t="t" r="r" b="b"/>
            <a:pathLst>
              <a:path w="1733341" h="301451">
                <a:moveTo>
                  <a:pt x="33494" y="0"/>
                </a:moveTo>
                <a:lnTo>
                  <a:pt x="1699846" y="0"/>
                </a:lnTo>
                <a:cubicBezTo>
                  <a:pt x="1718345" y="0"/>
                  <a:pt x="1733341" y="14996"/>
                  <a:pt x="1733341" y="33494"/>
                </a:cubicBezTo>
                <a:lnTo>
                  <a:pt x="1733341" y="267956"/>
                </a:lnTo>
                <a:cubicBezTo>
                  <a:pt x="1733341" y="286455"/>
                  <a:pt x="1718345" y="301451"/>
                  <a:pt x="1699846" y="301451"/>
                </a:cubicBezTo>
                <a:lnTo>
                  <a:pt x="33494" y="301451"/>
                </a:lnTo>
                <a:cubicBezTo>
                  <a:pt x="14996" y="301451"/>
                  <a:pt x="0" y="286455"/>
                  <a:pt x="0" y="267956"/>
                </a:cubicBezTo>
                <a:lnTo>
                  <a:pt x="0" y="33494"/>
                </a:lnTo>
                <a:cubicBezTo>
                  <a:pt x="0" y="15008"/>
                  <a:pt x="15008" y="0"/>
                  <a:pt x="33494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2307771" y="4541750"/>
            <a:ext cx="1733341" cy="301451"/>
          </a:xfrm>
          <a:custGeom>
            <a:avLst/>
            <a:gdLst/>
            <a:ahLst/>
            <a:cxnLst/>
            <a:rect l="l" t="t" r="r" b="b"/>
            <a:pathLst>
              <a:path w="1733341" h="301451">
                <a:moveTo>
                  <a:pt x="33494" y="0"/>
                </a:moveTo>
                <a:lnTo>
                  <a:pt x="1699846" y="0"/>
                </a:lnTo>
                <a:cubicBezTo>
                  <a:pt x="1718345" y="0"/>
                  <a:pt x="1733341" y="14996"/>
                  <a:pt x="1733341" y="33494"/>
                </a:cubicBezTo>
                <a:lnTo>
                  <a:pt x="1733341" y="267956"/>
                </a:lnTo>
                <a:cubicBezTo>
                  <a:pt x="1733341" y="286455"/>
                  <a:pt x="1718345" y="301451"/>
                  <a:pt x="1699846" y="301451"/>
                </a:cubicBezTo>
                <a:lnTo>
                  <a:pt x="33494" y="301451"/>
                </a:lnTo>
                <a:cubicBezTo>
                  <a:pt x="14996" y="301451"/>
                  <a:pt x="0" y="286455"/>
                  <a:pt x="0" y="267956"/>
                </a:cubicBezTo>
                <a:lnTo>
                  <a:pt x="0" y="33494"/>
                </a:lnTo>
                <a:cubicBezTo>
                  <a:pt x="0" y="15008"/>
                  <a:pt x="15008" y="0"/>
                  <a:pt x="33494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2278464" y="4541750"/>
            <a:ext cx="1791956" cy="301451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Pred: Real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06426" y="4541750"/>
            <a:ext cx="1733341" cy="301451"/>
          </a:xfrm>
          <a:custGeom>
            <a:avLst/>
            <a:gdLst/>
            <a:ahLst/>
            <a:cxnLst/>
            <a:rect l="l" t="t" r="r" b="b"/>
            <a:pathLst>
              <a:path w="1733341" h="301451">
                <a:moveTo>
                  <a:pt x="33494" y="0"/>
                </a:moveTo>
                <a:lnTo>
                  <a:pt x="1699846" y="0"/>
                </a:lnTo>
                <a:cubicBezTo>
                  <a:pt x="1718345" y="0"/>
                  <a:pt x="1733341" y="14996"/>
                  <a:pt x="1733341" y="33494"/>
                </a:cubicBezTo>
                <a:lnTo>
                  <a:pt x="1733341" y="267956"/>
                </a:lnTo>
                <a:cubicBezTo>
                  <a:pt x="1733341" y="286455"/>
                  <a:pt x="1718345" y="301451"/>
                  <a:pt x="1699846" y="301451"/>
                </a:cubicBezTo>
                <a:lnTo>
                  <a:pt x="33494" y="301451"/>
                </a:lnTo>
                <a:cubicBezTo>
                  <a:pt x="14996" y="301451"/>
                  <a:pt x="0" y="286455"/>
                  <a:pt x="0" y="267956"/>
                </a:cubicBezTo>
                <a:lnTo>
                  <a:pt x="0" y="33494"/>
                </a:lnTo>
                <a:cubicBezTo>
                  <a:pt x="0" y="15008"/>
                  <a:pt x="15008" y="0"/>
                  <a:pt x="33494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077119" y="4541750"/>
            <a:ext cx="1791956" cy="301451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Pred: Fake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9116" y="4910189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79809" y="4910189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307771" y="4910189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3" name="Text 31"/>
          <p:cNvSpPr/>
          <p:nvPr/>
        </p:nvSpPr>
        <p:spPr>
          <a:xfrm>
            <a:off x="2278464" y="4910189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983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79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(VP)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06426" y="4910189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4077119" y="4910189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158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79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(FN)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9116" y="5446102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79809" y="5446102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Fake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307771" y="5446102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39" name="Text 37"/>
          <p:cNvSpPr/>
          <p:nvPr/>
        </p:nvSpPr>
        <p:spPr>
          <a:xfrm>
            <a:off x="2278464" y="5446102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658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79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(FP)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06426" y="5446102"/>
            <a:ext cx="1733341" cy="468923"/>
          </a:xfrm>
          <a:custGeom>
            <a:avLst/>
            <a:gdLst/>
            <a:ahLst/>
            <a:cxnLst/>
            <a:rect l="l" t="t" r="r" b="b"/>
            <a:pathLst>
              <a:path w="1733341" h="468923">
                <a:moveTo>
                  <a:pt x="33495" y="0"/>
                </a:moveTo>
                <a:lnTo>
                  <a:pt x="1699845" y="0"/>
                </a:lnTo>
                <a:cubicBezTo>
                  <a:pt x="1718344" y="0"/>
                  <a:pt x="1733341" y="14996"/>
                  <a:pt x="1733341" y="33495"/>
                </a:cubicBezTo>
                <a:lnTo>
                  <a:pt x="1733341" y="435428"/>
                </a:lnTo>
                <a:cubicBezTo>
                  <a:pt x="1733341" y="453927"/>
                  <a:pt x="1718344" y="468923"/>
                  <a:pt x="1699845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4077119" y="5446102"/>
            <a:ext cx="1791956" cy="468923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5,400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79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(VN)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3086" y="1209152"/>
            <a:ext cx="5667270" cy="3222171"/>
          </a:xfrm>
          <a:custGeom>
            <a:avLst/>
            <a:gdLst/>
            <a:ahLst/>
            <a:cxnLst/>
            <a:rect l="l" t="t" r="r" b="b"/>
            <a:pathLst>
              <a:path w="5667270" h="3222171">
                <a:moveTo>
                  <a:pt x="100500" y="0"/>
                </a:moveTo>
                <a:lnTo>
                  <a:pt x="5566771" y="0"/>
                </a:lnTo>
                <a:cubicBezTo>
                  <a:pt x="5622275" y="0"/>
                  <a:pt x="5667270" y="44995"/>
                  <a:pt x="5667270" y="100500"/>
                </a:cubicBezTo>
                <a:lnTo>
                  <a:pt x="5667270" y="3121672"/>
                </a:lnTo>
                <a:cubicBezTo>
                  <a:pt x="5667270" y="3177176"/>
                  <a:pt x="5622275" y="3222171"/>
                  <a:pt x="5566771" y="3222171"/>
                </a:cubicBezTo>
                <a:lnTo>
                  <a:pt x="100500" y="3222171"/>
                </a:lnTo>
                <a:cubicBezTo>
                  <a:pt x="44995" y="3222171"/>
                  <a:pt x="0" y="3177176"/>
                  <a:pt x="0" y="3121672"/>
                </a:cubicBezTo>
                <a:lnTo>
                  <a:pt x="0" y="100500"/>
                </a:lnTo>
                <a:cubicBezTo>
                  <a:pt x="0" y="44995"/>
                  <a:pt x="44995" y="0"/>
                  <a:pt x="1005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5121" dist="8374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70655" y="1413469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0" y="66989"/>
                </a:moveTo>
                <a:cubicBezTo>
                  <a:pt x="0" y="30017"/>
                  <a:pt x="30017" y="0"/>
                  <a:pt x="66989" y="0"/>
                </a:cubicBezTo>
                <a:cubicBezTo>
                  <a:pt x="103961" y="0"/>
                  <a:pt x="133978" y="30017"/>
                  <a:pt x="133978" y="66989"/>
                </a:cubicBezTo>
                <a:cubicBezTo>
                  <a:pt x="133978" y="103961"/>
                  <a:pt x="103961" y="133978"/>
                  <a:pt x="66989" y="133978"/>
                </a:cubicBezTo>
                <a:cubicBezTo>
                  <a:pt x="30017" y="133978"/>
                  <a:pt x="0" y="103961"/>
                  <a:pt x="0" y="66989"/>
                </a:cubicBezTo>
                <a:close/>
                <a:moveTo>
                  <a:pt x="75363" y="25121"/>
                </a:moveTo>
                <a:cubicBezTo>
                  <a:pt x="75363" y="20499"/>
                  <a:pt x="71611" y="16747"/>
                  <a:pt x="66989" y="16747"/>
                </a:cubicBezTo>
                <a:cubicBezTo>
                  <a:pt x="62367" y="16747"/>
                  <a:pt x="58615" y="20499"/>
                  <a:pt x="58615" y="25121"/>
                </a:cubicBezTo>
                <a:cubicBezTo>
                  <a:pt x="58615" y="29742"/>
                  <a:pt x="62367" y="33495"/>
                  <a:pt x="66989" y="33495"/>
                </a:cubicBezTo>
                <a:cubicBezTo>
                  <a:pt x="71611" y="33495"/>
                  <a:pt x="75363" y="29742"/>
                  <a:pt x="75363" y="25121"/>
                </a:cubicBezTo>
                <a:close/>
                <a:moveTo>
                  <a:pt x="66989" y="108857"/>
                </a:moveTo>
                <a:cubicBezTo>
                  <a:pt x="76226" y="108857"/>
                  <a:pt x="83736" y="101347"/>
                  <a:pt x="83736" y="92110"/>
                </a:cubicBezTo>
                <a:cubicBezTo>
                  <a:pt x="83736" y="87871"/>
                  <a:pt x="82166" y="83972"/>
                  <a:pt x="79549" y="81041"/>
                </a:cubicBezTo>
                <a:lnTo>
                  <a:pt x="97736" y="44694"/>
                </a:lnTo>
                <a:cubicBezTo>
                  <a:pt x="99280" y="41580"/>
                  <a:pt x="98024" y="37812"/>
                  <a:pt x="94936" y="36268"/>
                </a:cubicBezTo>
                <a:cubicBezTo>
                  <a:pt x="91848" y="34724"/>
                  <a:pt x="88054" y="35980"/>
                  <a:pt x="86510" y="39068"/>
                </a:cubicBezTo>
                <a:lnTo>
                  <a:pt x="68324" y="75415"/>
                </a:lnTo>
                <a:cubicBezTo>
                  <a:pt x="67879" y="75389"/>
                  <a:pt x="67434" y="75363"/>
                  <a:pt x="66989" y="75363"/>
                </a:cubicBezTo>
                <a:cubicBezTo>
                  <a:pt x="57752" y="75363"/>
                  <a:pt x="50242" y="82873"/>
                  <a:pt x="50242" y="92110"/>
                </a:cubicBezTo>
                <a:cubicBezTo>
                  <a:pt x="50242" y="101347"/>
                  <a:pt x="57752" y="108857"/>
                  <a:pt x="66989" y="108857"/>
                </a:cubicBezTo>
                <a:close/>
                <a:moveTo>
                  <a:pt x="46055" y="37681"/>
                </a:moveTo>
                <a:cubicBezTo>
                  <a:pt x="46055" y="33060"/>
                  <a:pt x="42303" y="29308"/>
                  <a:pt x="37681" y="29308"/>
                </a:cubicBezTo>
                <a:cubicBezTo>
                  <a:pt x="33060" y="29308"/>
                  <a:pt x="29308" y="33060"/>
                  <a:pt x="29308" y="37681"/>
                </a:cubicBezTo>
                <a:cubicBezTo>
                  <a:pt x="29308" y="42303"/>
                  <a:pt x="33060" y="46055"/>
                  <a:pt x="37681" y="46055"/>
                </a:cubicBezTo>
                <a:cubicBezTo>
                  <a:pt x="42303" y="46055"/>
                  <a:pt x="46055" y="42303"/>
                  <a:pt x="46055" y="37681"/>
                </a:cubicBezTo>
                <a:close/>
                <a:moveTo>
                  <a:pt x="25121" y="75363"/>
                </a:moveTo>
                <a:cubicBezTo>
                  <a:pt x="29742" y="75363"/>
                  <a:pt x="33495" y="71611"/>
                  <a:pt x="33495" y="66989"/>
                </a:cubicBezTo>
                <a:cubicBezTo>
                  <a:pt x="33495" y="62367"/>
                  <a:pt x="29742" y="58615"/>
                  <a:pt x="25121" y="58615"/>
                </a:cubicBezTo>
                <a:cubicBezTo>
                  <a:pt x="20499" y="58615"/>
                  <a:pt x="16747" y="62367"/>
                  <a:pt x="16747" y="66989"/>
                </a:cubicBezTo>
                <a:cubicBezTo>
                  <a:pt x="16747" y="71611"/>
                  <a:pt x="20499" y="75363"/>
                  <a:pt x="25121" y="75363"/>
                </a:cubicBezTo>
                <a:close/>
                <a:moveTo>
                  <a:pt x="117231" y="66989"/>
                </a:moveTo>
                <a:cubicBezTo>
                  <a:pt x="117231" y="62367"/>
                  <a:pt x="113479" y="58615"/>
                  <a:pt x="108857" y="58615"/>
                </a:cubicBezTo>
                <a:cubicBezTo>
                  <a:pt x="104236" y="58615"/>
                  <a:pt x="100484" y="62367"/>
                  <a:pt x="100484" y="66989"/>
                </a:cubicBezTo>
                <a:cubicBezTo>
                  <a:pt x="100484" y="71611"/>
                  <a:pt x="104236" y="75363"/>
                  <a:pt x="108857" y="75363"/>
                </a:cubicBezTo>
                <a:cubicBezTo>
                  <a:pt x="113479" y="75363"/>
                  <a:pt x="117231" y="71611"/>
                  <a:pt x="117231" y="66989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4" name="Text 42"/>
          <p:cNvSpPr/>
          <p:nvPr/>
        </p:nvSpPr>
        <p:spPr>
          <a:xfrm>
            <a:off x="6521380" y="1379974"/>
            <a:ext cx="522514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Métricas por Clase - Conjunto de Prueba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3908" y="1714919"/>
            <a:ext cx="5325626" cy="937846"/>
          </a:xfrm>
          <a:custGeom>
            <a:avLst/>
            <a:gdLst/>
            <a:ahLst/>
            <a:cxnLst/>
            <a:rect l="l" t="t" r="r" b="b"/>
            <a:pathLst>
              <a:path w="5325626" h="937846">
                <a:moveTo>
                  <a:pt x="66990" y="0"/>
                </a:moveTo>
                <a:lnTo>
                  <a:pt x="5258636" y="0"/>
                </a:lnTo>
                <a:cubicBezTo>
                  <a:pt x="5295634" y="0"/>
                  <a:pt x="5325626" y="29993"/>
                  <a:pt x="5325626" y="66990"/>
                </a:cubicBezTo>
                <a:lnTo>
                  <a:pt x="5325626" y="870856"/>
                </a:lnTo>
                <a:cubicBezTo>
                  <a:pt x="5325626" y="907854"/>
                  <a:pt x="5295634" y="937846"/>
                  <a:pt x="5258636" y="937846"/>
                </a:cubicBezTo>
                <a:lnTo>
                  <a:pt x="66990" y="937846"/>
                </a:lnTo>
                <a:cubicBezTo>
                  <a:pt x="29993" y="937846"/>
                  <a:pt x="0" y="907854"/>
                  <a:pt x="0" y="870856"/>
                </a:cubicBezTo>
                <a:lnTo>
                  <a:pt x="0" y="66990"/>
                </a:lnTo>
                <a:cubicBezTo>
                  <a:pt x="0" y="30017"/>
                  <a:pt x="30017" y="0"/>
                  <a:pt x="6699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6454391" y="1815403"/>
            <a:ext cx="82898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REAL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13282" y="1832150"/>
            <a:ext cx="82898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Support: 1,141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54391" y="2083359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96259" y="2150348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87886" y="2284221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E171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59.90%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86057" y="2083359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227926" y="2150348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19552" y="2284221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86.15%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917723" y="2083359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9959591" y="2150348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951218" y="2284221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70.67%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3908" y="2753144"/>
            <a:ext cx="5325626" cy="937846"/>
          </a:xfrm>
          <a:custGeom>
            <a:avLst/>
            <a:gdLst/>
            <a:ahLst/>
            <a:cxnLst/>
            <a:rect l="l" t="t" r="r" b="b"/>
            <a:pathLst>
              <a:path w="5325626" h="937846">
                <a:moveTo>
                  <a:pt x="66990" y="0"/>
                </a:moveTo>
                <a:lnTo>
                  <a:pt x="5258636" y="0"/>
                </a:lnTo>
                <a:cubicBezTo>
                  <a:pt x="5295634" y="0"/>
                  <a:pt x="5325626" y="29993"/>
                  <a:pt x="5325626" y="66990"/>
                </a:cubicBezTo>
                <a:lnTo>
                  <a:pt x="5325626" y="870856"/>
                </a:lnTo>
                <a:cubicBezTo>
                  <a:pt x="5325626" y="907854"/>
                  <a:pt x="5295634" y="937846"/>
                  <a:pt x="5258636" y="937846"/>
                </a:cubicBezTo>
                <a:lnTo>
                  <a:pt x="66990" y="937846"/>
                </a:lnTo>
                <a:cubicBezTo>
                  <a:pt x="29993" y="937846"/>
                  <a:pt x="0" y="907854"/>
                  <a:pt x="0" y="870856"/>
                </a:cubicBezTo>
                <a:lnTo>
                  <a:pt x="0" y="66990"/>
                </a:lnTo>
                <a:cubicBezTo>
                  <a:pt x="0" y="30017"/>
                  <a:pt x="30017" y="0"/>
                  <a:pt x="6699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6454391" y="2853628"/>
            <a:ext cx="82898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 FAKE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813282" y="2870375"/>
            <a:ext cx="82898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Support: 6,058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54391" y="3121584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96259" y="3188573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87886" y="3322447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97.16%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86057" y="3121584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8227926" y="3188573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19552" y="3322447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89.14%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917723" y="3121584"/>
            <a:ext cx="1666352" cy="468923"/>
          </a:xfrm>
          <a:custGeom>
            <a:avLst/>
            <a:gdLst/>
            <a:ahLst/>
            <a:cxnLst/>
            <a:rect l="l" t="t" r="r" b="b"/>
            <a:pathLst>
              <a:path w="1666352" h="468923">
                <a:moveTo>
                  <a:pt x="33495" y="0"/>
                </a:moveTo>
                <a:lnTo>
                  <a:pt x="1632856" y="0"/>
                </a:lnTo>
                <a:cubicBezTo>
                  <a:pt x="1651355" y="0"/>
                  <a:pt x="1666352" y="14996"/>
                  <a:pt x="1666352" y="33495"/>
                </a:cubicBezTo>
                <a:lnTo>
                  <a:pt x="1666352" y="435428"/>
                </a:lnTo>
                <a:cubicBezTo>
                  <a:pt x="1666352" y="453927"/>
                  <a:pt x="1651355" y="468923"/>
                  <a:pt x="1632856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9959591" y="3188573"/>
            <a:ext cx="158261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951218" y="3322447"/>
            <a:ext cx="159936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92.98%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257" y="3794719"/>
            <a:ext cx="5323952" cy="408633"/>
          </a:xfrm>
          <a:custGeom>
            <a:avLst/>
            <a:gdLst/>
            <a:ahLst/>
            <a:cxnLst/>
            <a:rect l="l" t="t" r="r" b="b"/>
            <a:pathLst>
              <a:path w="5323952" h="408633">
                <a:moveTo>
                  <a:pt x="66987" y="0"/>
                </a:moveTo>
                <a:lnTo>
                  <a:pt x="5256964" y="0"/>
                </a:lnTo>
                <a:cubicBezTo>
                  <a:pt x="5293960" y="0"/>
                  <a:pt x="5323952" y="29991"/>
                  <a:pt x="5323952" y="66987"/>
                </a:cubicBezTo>
                <a:lnTo>
                  <a:pt x="5323952" y="341646"/>
                </a:lnTo>
                <a:cubicBezTo>
                  <a:pt x="5323952" y="378642"/>
                  <a:pt x="5293960" y="408633"/>
                  <a:pt x="5256964" y="408633"/>
                </a:cubicBezTo>
                <a:lnTo>
                  <a:pt x="66987" y="408633"/>
                </a:lnTo>
                <a:cubicBezTo>
                  <a:pt x="30016" y="408633"/>
                  <a:pt x="0" y="378617"/>
                  <a:pt x="0" y="341646"/>
                </a:cubicBezTo>
                <a:lnTo>
                  <a:pt x="0" y="66987"/>
                </a:lnTo>
                <a:cubicBezTo>
                  <a:pt x="0" y="30016"/>
                  <a:pt x="30016" y="0"/>
                  <a:pt x="66987" y="0"/>
                </a:cubicBezTo>
                <a:close/>
              </a:path>
            </a:pathLst>
          </a:custGeom>
          <a:gradFill rotWithShape="1" flip="none">
            <a:gsLst>
              <a:gs pos="0">
                <a:srgbClr val="EEF2FF"/>
              </a:gs>
              <a:gs pos="100000">
                <a:srgbClr val="FAF5FF"/>
              </a:gs>
            </a:gsLst>
            <a:lin ang="0" scaled="1"/>
          </a:gradFill>
          <a:ln w="10160">
            <a:solidFill>
              <a:srgbClr val="C6D2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61090" y="3898551"/>
            <a:ext cx="102995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Macro Average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619517" y="3915298"/>
            <a:ext cx="60290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P: </a:t>
            </a:r>
            <a:pPr>
              <a:lnSpc>
                <a:spcPct val="120000"/>
              </a:lnSpc>
            </a:pPr>
            <a:r>
              <a:rPr lang="en-US" sz="923" b="1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78.53%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294536" y="3915298"/>
            <a:ext cx="60290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R: </a:t>
            </a:r>
            <a:pPr>
              <a:lnSpc>
                <a:spcPct val="120000"/>
              </a:lnSpc>
            </a:pPr>
            <a:r>
              <a:rPr lang="en-US" sz="923" b="1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87.65%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976045" y="3915298"/>
            <a:ext cx="66151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F1: </a:t>
            </a:r>
            <a:pPr>
              <a:lnSpc>
                <a:spcPct val="120000"/>
              </a:lnSpc>
            </a:pPr>
            <a:r>
              <a:rPr lang="en-US" sz="923" b="1" dirty="0">
                <a:solidFill>
                  <a:srgbClr val="4F39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81.83%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83086" y="4572001"/>
            <a:ext cx="5667270" cy="1513952"/>
          </a:xfrm>
          <a:custGeom>
            <a:avLst/>
            <a:gdLst/>
            <a:ahLst/>
            <a:cxnLst/>
            <a:rect l="l" t="t" r="r" b="b"/>
            <a:pathLst>
              <a:path w="5667270" h="1513952">
                <a:moveTo>
                  <a:pt x="100481" y="0"/>
                </a:moveTo>
                <a:lnTo>
                  <a:pt x="5566789" y="0"/>
                </a:lnTo>
                <a:cubicBezTo>
                  <a:pt x="5622283" y="0"/>
                  <a:pt x="5667270" y="44987"/>
                  <a:pt x="5667270" y="100481"/>
                </a:cubicBezTo>
                <a:lnTo>
                  <a:pt x="5667270" y="1413471"/>
                </a:lnTo>
                <a:cubicBezTo>
                  <a:pt x="5667270" y="1468965"/>
                  <a:pt x="5622283" y="1513952"/>
                  <a:pt x="5566789" y="1513952"/>
                </a:cubicBezTo>
                <a:lnTo>
                  <a:pt x="100481" y="1513952"/>
                </a:lnTo>
                <a:cubicBezTo>
                  <a:pt x="44987" y="1513952"/>
                  <a:pt x="0" y="1468965"/>
                  <a:pt x="0" y="1413471"/>
                </a:cubicBezTo>
                <a:lnTo>
                  <a:pt x="0" y="100481"/>
                </a:lnTo>
                <a:cubicBezTo>
                  <a:pt x="0" y="44987"/>
                  <a:pt x="44987" y="0"/>
                  <a:pt x="100481" y="0"/>
                </a:cubicBezTo>
                <a:close/>
              </a:path>
            </a:pathLst>
          </a:custGeom>
          <a:gradFill rotWithShape="1" flip="none">
            <a:gsLst>
              <a:gs pos="0">
                <a:srgbClr val="FAF5FF"/>
              </a:gs>
              <a:gs pos="100000">
                <a:srgbClr val="FDF2F8"/>
              </a:gs>
            </a:gsLst>
            <a:lin ang="2700000" scaled="1"/>
          </a:gradFill>
          <a:ln w="10160">
            <a:solidFill>
              <a:srgbClr val="E9D4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91589" y="4826559"/>
            <a:ext cx="175846" cy="200967"/>
          </a:xfrm>
          <a:custGeom>
            <a:avLst/>
            <a:gdLst/>
            <a:ahLst/>
            <a:cxnLst/>
            <a:rect l="l" t="t" r="r" b="b"/>
            <a:pathLst>
              <a:path w="175846" h="200967">
                <a:moveTo>
                  <a:pt x="96519" y="-10166"/>
                </a:moveTo>
                <a:cubicBezTo>
                  <a:pt x="91259" y="-13385"/>
                  <a:pt x="84626" y="-13385"/>
                  <a:pt x="79366" y="-10166"/>
                </a:cubicBezTo>
                <a:cubicBezTo>
                  <a:pt x="69789" y="-4318"/>
                  <a:pt x="63862" y="-2748"/>
                  <a:pt x="52636" y="-2983"/>
                </a:cubicBezTo>
                <a:cubicBezTo>
                  <a:pt x="46474" y="-3140"/>
                  <a:pt x="40743" y="196"/>
                  <a:pt x="37760" y="5613"/>
                </a:cubicBezTo>
                <a:cubicBezTo>
                  <a:pt x="32382" y="15465"/>
                  <a:pt x="28025" y="19822"/>
                  <a:pt x="18173" y="25199"/>
                </a:cubicBezTo>
                <a:cubicBezTo>
                  <a:pt x="12757" y="28143"/>
                  <a:pt x="9460" y="33913"/>
                  <a:pt x="9577" y="40076"/>
                </a:cubicBezTo>
                <a:cubicBezTo>
                  <a:pt x="9852" y="51302"/>
                  <a:pt x="8243" y="57229"/>
                  <a:pt x="2394" y="66806"/>
                </a:cubicBezTo>
                <a:cubicBezTo>
                  <a:pt x="-824" y="72066"/>
                  <a:pt x="-824" y="78699"/>
                  <a:pt x="2394" y="83959"/>
                </a:cubicBezTo>
                <a:cubicBezTo>
                  <a:pt x="8243" y="93536"/>
                  <a:pt x="9813" y="99463"/>
                  <a:pt x="9577" y="110689"/>
                </a:cubicBezTo>
                <a:cubicBezTo>
                  <a:pt x="9420" y="116851"/>
                  <a:pt x="12757" y="122582"/>
                  <a:pt x="18173" y="125565"/>
                </a:cubicBezTo>
                <a:cubicBezTo>
                  <a:pt x="26848" y="130315"/>
                  <a:pt x="31244" y="134240"/>
                  <a:pt x="35876" y="141854"/>
                </a:cubicBezTo>
                <a:lnTo>
                  <a:pt x="16760" y="179968"/>
                </a:lnTo>
                <a:cubicBezTo>
                  <a:pt x="14445" y="184638"/>
                  <a:pt x="16329" y="190291"/>
                  <a:pt x="20960" y="192606"/>
                </a:cubicBezTo>
                <a:lnTo>
                  <a:pt x="54716" y="209485"/>
                </a:lnTo>
                <a:cubicBezTo>
                  <a:pt x="59230" y="211722"/>
                  <a:pt x="64726" y="210034"/>
                  <a:pt x="67159" y="205638"/>
                </a:cubicBezTo>
                <a:lnTo>
                  <a:pt x="87884" y="168310"/>
                </a:lnTo>
                <a:lnTo>
                  <a:pt x="108609" y="205638"/>
                </a:lnTo>
                <a:cubicBezTo>
                  <a:pt x="111042" y="210034"/>
                  <a:pt x="116537" y="211761"/>
                  <a:pt x="121051" y="209485"/>
                </a:cubicBezTo>
                <a:lnTo>
                  <a:pt x="154807" y="192606"/>
                </a:lnTo>
                <a:cubicBezTo>
                  <a:pt x="159478" y="190291"/>
                  <a:pt x="161362" y="184638"/>
                  <a:pt x="159007" y="179968"/>
                </a:cubicBezTo>
                <a:lnTo>
                  <a:pt x="139931" y="141815"/>
                </a:lnTo>
                <a:cubicBezTo>
                  <a:pt x="144524" y="134200"/>
                  <a:pt x="148959" y="130275"/>
                  <a:pt x="157634" y="125526"/>
                </a:cubicBezTo>
                <a:cubicBezTo>
                  <a:pt x="163050" y="122582"/>
                  <a:pt x="166347" y="116812"/>
                  <a:pt x="166230" y="110650"/>
                </a:cubicBezTo>
                <a:cubicBezTo>
                  <a:pt x="165955" y="99424"/>
                  <a:pt x="167564" y="93497"/>
                  <a:pt x="173413" y="83919"/>
                </a:cubicBezTo>
                <a:cubicBezTo>
                  <a:pt x="176631" y="78660"/>
                  <a:pt x="176631" y="72026"/>
                  <a:pt x="173413" y="66767"/>
                </a:cubicBezTo>
                <a:cubicBezTo>
                  <a:pt x="167564" y="57189"/>
                  <a:pt x="165994" y="51262"/>
                  <a:pt x="166230" y="40036"/>
                </a:cubicBezTo>
                <a:cubicBezTo>
                  <a:pt x="166387" y="33874"/>
                  <a:pt x="163050" y="28143"/>
                  <a:pt x="157634" y="25160"/>
                </a:cubicBezTo>
                <a:cubicBezTo>
                  <a:pt x="147781" y="19783"/>
                  <a:pt x="143425" y="15426"/>
                  <a:pt x="138047" y="5574"/>
                </a:cubicBezTo>
                <a:cubicBezTo>
                  <a:pt x="135103" y="157"/>
                  <a:pt x="129333" y="-3140"/>
                  <a:pt x="123171" y="-3022"/>
                </a:cubicBezTo>
                <a:cubicBezTo>
                  <a:pt x="111945" y="-2748"/>
                  <a:pt x="106018" y="-4357"/>
                  <a:pt x="96441" y="-10205"/>
                </a:cubicBezTo>
                <a:close/>
                <a:moveTo>
                  <a:pt x="87923" y="37681"/>
                </a:moveTo>
                <a:cubicBezTo>
                  <a:pt x="108720" y="37681"/>
                  <a:pt x="125604" y="54566"/>
                  <a:pt x="125604" y="75363"/>
                </a:cubicBezTo>
                <a:cubicBezTo>
                  <a:pt x="125604" y="96160"/>
                  <a:pt x="108720" y="113044"/>
                  <a:pt x="87923" y="113044"/>
                </a:cubicBezTo>
                <a:cubicBezTo>
                  <a:pt x="67126" y="113044"/>
                  <a:pt x="50242" y="96160"/>
                  <a:pt x="50242" y="75363"/>
                </a:cubicBezTo>
                <a:cubicBezTo>
                  <a:pt x="50242" y="54566"/>
                  <a:pt x="67126" y="37681"/>
                  <a:pt x="87923" y="37681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76" name="Text 74"/>
          <p:cNvSpPr/>
          <p:nvPr/>
        </p:nvSpPr>
        <p:spPr>
          <a:xfrm>
            <a:off x="6705600" y="4742823"/>
            <a:ext cx="133978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AUC-ROC Estimado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705600" y="4943790"/>
            <a:ext cx="133140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Área bajo la curva ROC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53908" y="5211746"/>
            <a:ext cx="1423516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9810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0.93-0.95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926955" y="5211746"/>
            <a:ext cx="75362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TPR: </a:t>
            </a:r>
            <a:pPr algn="r">
              <a:lnSpc>
                <a:spcPct val="120000"/>
              </a:lnSpc>
            </a:pPr>
            <a:r>
              <a:rPr lang="en-US" sz="923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89.14%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926955" y="5379219"/>
            <a:ext cx="75362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23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FPR: </a:t>
            </a:r>
            <a:pPr algn="r">
              <a:lnSpc>
                <a:spcPct val="120000"/>
              </a:lnSpc>
            </a:pPr>
            <a:r>
              <a:rPr lang="en-US" sz="923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13.85%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53908" y="5647175"/>
            <a:ext cx="5325626" cy="267956"/>
          </a:xfrm>
          <a:custGeom>
            <a:avLst/>
            <a:gdLst/>
            <a:ahLst/>
            <a:cxnLst/>
            <a:rect l="l" t="t" r="r" b="b"/>
            <a:pathLst>
              <a:path w="5325626" h="267956">
                <a:moveTo>
                  <a:pt x="66989" y="0"/>
                </a:moveTo>
                <a:lnTo>
                  <a:pt x="5258637" y="0"/>
                </a:lnTo>
                <a:cubicBezTo>
                  <a:pt x="5295634" y="0"/>
                  <a:pt x="5325626" y="29992"/>
                  <a:pt x="5325626" y="66989"/>
                </a:cubicBezTo>
                <a:lnTo>
                  <a:pt x="5325626" y="200967"/>
                </a:lnTo>
                <a:cubicBezTo>
                  <a:pt x="5325626" y="237964"/>
                  <a:pt x="5295634" y="267956"/>
                  <a:pt x="5258637" y="267956"/>
                </a:cubicBezTo>
                <a:lnTo>
                  <a:pt x="66989" y="267956"/>
                </a:lnTo>
                <a:cubicBezTo>
                  <a:pt x="30017" y="267956"/>
                  <a:pt x="0" y="237939"/>
                  <a:pt x="0" y="200967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6353908" y="5647175"/>
            <a:ext cx="5375868" cy="267956"/>
          </a:xfrm>
          <a:prstGeom prst="rect">
            <a:avLst/>
          </a:prstGeom>
          <a:noFill/>
          <a:ln/>
        </p:spPr>
        <p:txBody>
          <a:bodyPr wrap="square" lIns="66989" tIns="66989" rIns="66989" bIns="66989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Ventaja:</a:t>
            </a:r>
            <a:pPr>
              <a:lnSpc>
                <a:spcPct val="110000"/>
              </a:lnSpc>
            </a:pPr>
            <a:r>
              <a:rPr lang="en-US" sz="791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Independiente del umbral de decisión, robusto ante desbalance 84/16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334945" y="6223174"/>
            <a:ext cx="11522110" cy="636396"/>
          </a:xfrm>
          <a:custGeom>
            <a:avLst/>
            <a:gdLst/>
            <a:ahLst/>
            <a:cxnLst/>
            <a:rect l="l" t="t" r="r" b="b"/>
            <a:pathLst>
              <a:path w="11522110" h="636396">
                <a:moveTo>
                  <a:pt x="100481" y="0"/>
                </a:moveTo>
                <a:lnTo>
                  <a:pt x="11421629" y="0"/>
                </a:lnTo>
                <a:cubicBezTo>
                  <a:pt x="11477123" y="0"/>
                  <a:pt x="11522110" y="44987"/>
                  <a:pt x="11522110" y="100481"/>
                </a:cubicBezTo>
                <a:lnTo>
                  <a:pt x="11522110" y="535915"/>
                </a:lnTo>
                <a:cubicBezTo>
                  <a:pt x="11522110" y="591409"/>
                  <a:pt x="11477123" y="636396"/>
                  <a:pt x="11421629" y="636396"/>
                </a:cubicBezTo>
                <a:lnTo>
                  <a:pt x="100481" y="636396"/>
                </a:lnTo>
                <a:cubicBezTo>
                  <a:pt x="45024" y="636396"/>
                  <a:pt x="0" y="591372"/>
                  <a:pt x="0" y="535915"/>
                </a:cubicBezTo>
                <a:lnTo>
                  <a:pt x="0" y="100481"/>
                </a:lnTo>
                <a:cubicBezTo>
                  <a:pt x="0" y="45024"/>
                  <a:pt x="45024" y="0"/>
                  <a:pt x="100481" y="0"/>
                </a:cubicBezTo>
                <a:close/>
              </a:path>
            </a:pathLst>
          </a:custGeom>
          <a:gradFill rotWithShape="1" flip="none">
            <a:gsLst>
              <a:gs pos="0">
                <a:srgbClr val="1D293D"/>
              </a:gs>
              <a:gs pos="100000">
                <a:srgbClr val="0F172B"/>
              </a:gs>
            </a:gsLst>
            <a:lin ang="0" scaled="1"/>
          </a:gradFill>
          <a:ln/>
        </p:spPr>
      </p:sp>
      <p:sp>
        <p:nvSpPr>
          <p:cNvPr id="84" name="Shape 82"/>
          <p:cNvSpPr/>
          <p:nvPr/>
        </p:nvSpPr>
        <p:spPr>
          <a:xfrm>
            <a:off x="489857" y="6457636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65419" y="15701"/>
                </a:moveTo>
                <a:lnTo>
                  <a:pt x="102054" y="15701"/>
                </a:lnTo>
                <a:cubicBezTo>
                  <a:pt x="103493" y="15701"/>
                  <a:pt x="104670" y="16878"/>
                  <a:pt x="104670" y="18317"/>
                </a:cubicBezTo>
                <a:lnTo>
                  <a:pt x="104670" y="31401"/>
                </a:lnTo>
                <a:lnTo>
                  <a:pt x="62802" y="31401"/>
                </a:lnTo>
                <a:lnTo>
                  <a:pt x="62802" y="18317"/>
                </a:lnTo>
                <a:cubicBezTo>
                  <a:pt x="62802" y="16878"/>
                  <a:pt x="63980" y="15701"/>
                  <a:pt x="65419" y="15701"/>
                </a:cubicBezTo>
                <a:close/>
                <a:moveTo>
                  <a:pt x="47102" y="18317"/>
                </a:moveTo>
                <a:lnTo>
                  <a:pt x="47102" y="31401"/>
                </a:lnTo>
                <a:lnTo>
                  <a:pt x="20934" y="31401"/>
                </a:lnTo>
                <a:cubicBezTo>
                  <a:pt x="9388" y="31401"/>
                  <a:pt x="0" y="40789"/>
                  <a:pt x="0" y="52335"/>
                </a:cubicBezTo>
                <a:lnTo>
                  <a:pt x="0" y="83736"/>
                </a:lnTo>
                <a:lnTo>
                  <a:pt x="167473" y="83736"/>
                </a:lnTo>
                <a:lnTo>
                  <a:pt x="167473" y="52335"/>
                </a:lnTo>
                <a:cubicBezTo>
                  <a:pt x="167473" y="40789"/>
                  <a:pt x="158085" y="31401"/>
                  <a:pt x="146538" y="31401"/>
                </a:cubicBezTo>
                <a:lnTo>
                  <a:pt x="120371" y="31401"/>
                </a:lnTo>
                <a:lnTo>
                  <a:pt x="120371" y="18317"/>
                </a:lnTo>
                <a:cubicBezTo>
                  <a:pt x="120371" y="8210"/>
                  <a:pt x="112161" y="0"/>
                  <a:pt x="102054" y="0"/>
                </a:cubicBezTo>
                <a:lnTo>
                  <a:pt x="65419" y="0"/>
                </a:lnTo>
                <a:cubicBezTo>
                  <a:pt x="55312" y="0"/>
                  <a:pt x="47102" y="8210"/>
                  <a:pt x="47102" y="18317"/>
                </a:cubicBezTo>
                <a:close/>
                <a:moveTo>
                  <a:pt x="167473" y="99437"/>
                </a:moveTo>
                <a:lnTo>
                  <a:pt x="104670" y="99437"/>
                </a:lnTo>
                <a:lnTo>
                  <a:pt x="104670" y="104670"/>
                </a:lnTo>
                <a:cubicBezTo>
                  <a:pt x="104670" y="110460"/>
                  <a:pt x="99993" y="115137"/>
                  <a:pt x="94203" y="115137"/>
                </a:cubicBezTo>
                <a:lnTo>
                  <a:pt x="73269" y="115137"/>
                </a:lnTo>
                <a:cubicBezTo>
                  <a:pt x="67480" y="115137"/>
                  <a:pt x="62802" y="110460"/>
                  <a:pt x="62802" y="104670"/>
                </a:cubicBezTo>
                <a:lnTo>
                  <a:pt x="62802" y="99437"/>
                </a:lnTo>
                <a:lnTo>
                  <a:pt x="0" y="99437"/>
                </a:lnTo>
                <a:lnTo>
                  <a:pt x="0" y="136071"/>
                </a:lnTo>
                <a:cubicBezTo>
                  <a:pt x="0" y="147618"/>
                  <a:pt x="9388" y="157005"/>
                  <a:pt x="20934" y="157005"/>
                </a:cubicBezTo>
                <a:lnTo>
                  <a:pt x="146538" y="157005"/>
                </a:lnTo>
                <a:cubicBezTo>
                  <a:pt x="158085" y="157005"/>
                  <a:pt x="167473" y="147618"/>
                  <a:pt x="167473" y="136071"/>
                </a:cubicBezTo>
                <a:lnTo>
                  <a:pt x="167473" y="99437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85" name="Text 83"/>
          <p:cNvSpPr/>
          <p:nvPr/>
        </p:nvSpPr>
        <p:spPr>
          <a:xfrm>
            <a:off x="778747" y="6357152"/>
            <a:ext cx="798844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de Consultoría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78747" y="6558120"/>
            <a:ext cx="798006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métricas son críticas en detección de fraude, anomalías y riesgo de crédito — donde el costo de falsos positivos vs negativos puede ser millonario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142" y="371142"/>
            <a:ext cx="1985607" cy="334027"/>
          </a:xfrm>
          <a:custGeom>
            <a:avLst/>
            <a:gdLst/>
            <a:ahLst/>
            <a:cxnLst/>
            <a:rect l="l" t="t" r="r" b="b"/>
            <a:pathLst>
              <a:path w="1985607" h="334027">
                <a:moveTo>
                  <a:pt x="167014" y="0"/>
                </a:moveTo>
                <a:lnTo>
                  <a:pt x="1818594" y="0"/>
                </a:lnTo>
                <a:cubicBezTo>
                  <a:pt x="1910771" y="0"/>
                  <a:pt x="1985607" y="74836"/>
                  <a:pt x="1985607" y="167014"/>
                </a:cubicBezTo>
                <a:lnTo>
                  <a:pt x="1985607" y="167014"/>
                </a:lnTo>
                <a:cubicBezTo>
                  <a:pt x="1985607" y="259191"/>
                  <a:pt x="1910771" y="334027"/>
                  <a:pt x="1818594" y="334027"/>
                </a:cubicBezTo>
                <a:lnTo>
                  <a:pt x="167014" y="334027"/>
                </a:lnTo>
                <a:cubicBezTo>
                  <a:pt x="74836" y="334027"/>
                  <a:pt x="0" y="259191"/>
                  <a:pt x="0" y="167014"/>
                </a:cubicBezTo>
                <a:lnTo>
                  <a:pt x="0" y="167014"/>
                </a:lnTo>
                <a:cubicBezTo>
                  <a:pt x="0" y="74836"/>
                  <a:pt x="74836" y="0"/>
                  <a:pt x="167014" y="0"/>
                </a:cubicBezTo>
                <a:close/>
              </a:path>
            </a:pathLst>
          </a:custGeom>
          <a:solidFill>
            <a:srgbClr val="CBFBF1"/>
          </a:solidFill>
          <a:ln/>
        </p:spPr>
      </p:sp>
      <p:sp>
        <p:nvSpPr>
          <p:cNvPr id="3" name="Shape 1"/>
          <p:cNvSpPr/>
          <p:nvPr/>
        </p:nvSpPr>
        <p:spPr>
          <a:xfrm>
            <a:off x="528877" y="463927"/>
            <a:ext cx="167014" cy="148457"/>
          </a:xfrm>
          <a:custGeom>
            <a:avLst/>
            <a:gdLst/>
            <a:ahLst/>
            <a:cxnLst/>
            <a:rect l="l" t="t" r="r" b="b"/>
            <a:pathLst>
              <a:path w="167014" h="148457">
                <a:moveTo>
                  <a:pt x="83507" y="9279"/>
                </a:moveTo>
                <a:cubicBezTo>
                  <a:pt x="60079" y="9279"/>
                  <a:pt x="41318" y="19949"/>
                  <a:pt x="27662" y="32649"/>
                </a:cubicBezTo>
                <a:cubicBezTo>
                  <a:pt x="14092" y="45262"/>
                  <a:pt x="5016" y="60311"/>
                  <a:pt x="696" y="70662"/>
                </a:cubicBezTo>
                <a:cubicBezTo>
                  <a:pt x="-261" y="72953"/>
                  <a:pt x="-261" y="75504"/>
                  <a:pt x="696" y="77795"/>
                </a:cubicBezTo>
                <a:cubicBezTo>
                  <a:pt x="5016" y="88146"/>
                  <a:pt x="14092" y="103224"/>
                  <a:pt x="27662" y="115808"/>
                </a:cubicBezTo>
                <a:cubicBezTo>
                  <a:pt x="41318" y="128479"/>
                  <a:pt x="60079" y="139178"/>
                  <a:pt x="83507" y="139178"/>
                </a:cubicBezTo>
                <a:cubicBezTo>
                  <a:pt x="106935" y="139178"/>
                  <a:pt x="125695" y="128508"/>
                  <a:pt x="139352" y="115808"/>
                </a:cubicBezTo>
                <a:cubicBezTo>
                  <a:pt x="152922" y="103195"/>
                  <a:pt x="161997" y="88146"/>
                  <a:pt x="166318" y="77795"/>
                </a:cubicBezTo>
                <a:cubicBezTo>
                  <a:pt x="167275" y="75504"/>
                  <a:pt x="167275" y="72953"/>
                  <a:pt x="166318" y="70662"/>
                </a:cubicBezTo>
                <a:cubicBezTo>
                  <a:pt x="161997" y="60311"/>
                  <a:pt x="152922" y="45233"/>
                  <a:pt x="139352" y="32649"/>
                </a:cubicBezTo>
                <a:cubicBezTo>
                  <a:pt x="125695" y="19978"/>
                  <a:pt x="106935" y="9279"/>
                  <a:pt x="83507" y="9279"/>
                </a:cubicBezTo>
                <a:close/>
                <a:moveTo>
                  <a:pt x="41753" y="74228"/>
                </a:moveTo>
                <a:cubicBezTo>
                  <a:pt x="41753" y="51184"/>
                  <a:pt x="60463" y="32475"/>
                  <a:pt x="83507" y="32475"/>
                </a:cubicBezTo>
                <a:cubicBezTo>
                  <a:pt x="106551" y="32475"/>
                  <a:pt x="125260" y="51184"/>
                  <a:pt x="125260" y="74228"/>
                </a:cubicBezTo>
                <a:cubicBezTo>
                  <a:pt x="125260" y="97273"/>
                  <a:pt x="106551" y="115982"/>
                  <a:pt x="83507" y="115982"/>
                </a:cubicBezTo>
                <a:cubicBezTo>
                  <a:pt x="60463" y="115982"/>
                  <a:pt x="41753" y="97273"/>
                  <a:pt x="41753" y="74228"/>
                </a:cubicBezTo>
                <a:close/>
                <a:moveTo>
                  <a:pt x="83507" y="55671"/>
                </a:moveTo>
                <a:cubicBezTo>
                  <a:pt x="83507" y="65907"/>
                  <a:pt x="75185" y="74228"/>
                  <a:pt x="64950" y="74228"/>
                </a:cubicBezTo>
                <a:cubicBezTo>
                  <a:pt x="61615" y="74228"/>
                  <a:pt x="58484" y="73358"/>
                  <a:pt x="55758" y="71793"/>
                </a:cubicBezTo>
                <a:cubicBezTo>
                  <a:pt x="55468" y="74953"/>
                  <a:pt x="55729" y="78201"/>
                  <a:pt x="56599" y="81419"/>
                </a:cubicBezTo>
                <a:cubicBezTo>
                  <a:pt x="60571" y="96265"/>
                  <a:pt x="75852" y="105079"/>
                  <a:pt x="90698" y="101107"/>
                </a:cubicBezTo>
                <a:cubicBezTo>
                  <a:pt x="105543" y="97135"/>
                  <a:pt x="114358" y="81854"/>
                  <a:pt x="110386" y="67008"/>
                </a:cubicBezTo>
                <a:cubicBezTo>
                  <a:pt x="106848" y="53758"/>
                  <a:pt x="94293" y="45320"/>
                  <a:pt x="81071" y="46480"/>
                </a:cubicBezTo>
                <a:cubicBezTo>
                  <a:pt x="82608" y="49176"/>
                  <a:pt x="83507" y="52308"/>
                  <a:pt x="83507" y="55671"/>
                </a:cubicBezTo>
                <a:close/>
              </a:path>
            </a:pathLst>
          </a:custGeom>
          <a:solidFill>
            <a:srgbClr val="009689"/>
          </a:solidFill>
          <a:ln/>
        </p:spPr>
      </p:sp>
      <p:sp>
        <p:nvSpPr>
          <p:cNvPr id="4" name="Text 2"/>
          <p:cNvSpPr/>
          <p:nvPr/>
        </p:nvSpPr>
        <p:spPr>
          <a:xfrm>
            <a:off x="779397" y="445370"/>
            <a:ext cx="149384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00786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 (XAI)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1142" y="816511"/>
            <a:ext cx="11616731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Grad-CAM: Auditoría y Transparencia del Modelo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853" y="1339821"/>
            <a:ext cx="4479679" cy="1788902"/>
          </a:xfrm>
          <a:custGeom>
            <a:avLst/>
            <a:gdLst/>
            <a:ahLst/>
            <a:cxnLst/>
            <a:rect l="l" t="t" r="r" b="b"/>
            <a:pathLst>
              <a:path w="4479679" h="1788902">
                <a:moveTo>
                  <a:pt x="111341" y="0"/>
                </a:moveTo>
                <a:lnTo>
                  <a:pt x="4368337" y="0"/>
                </a:lnTo>
                <a:cubicBezTo>
                  <a:pt x="4429829" y="0"/>
                  <a:pt x="4479679" y="49849"/>
                  <a:pt x="4479679" y="111341"/>
                </a:cubicBezTo>
                <a:lnTo>
                  <a:pt x="4479679" y="1677561"/>
                </a:lnTo>
                <a:cubicBezTo>
                  <a:pt x="4479679" y="1739053"/>
                  <a:pt x="4429829" y="1788902"/>
                  <a:pt x="4368337" y="1788902"/>
                </a:cubicBezTo>
                <a:lnTo>
                  <a:pt x="111341" y="1788902"/>
                </a:lnTo>
                <a:cubicBezTo>
                  <a:pt x="49849" y="1788902"/>
                  <a:pt x="0" y="1739053"/>
                  <a:pt x="0" y="1677561"/>
                </a:cubicBezTo>
                <a:lnTo>
                  <a:pt x="0" y="111341"/>
                </a:lnTo>
                <a:cubicBezTo>
                  <a:pt x="0" y="49849"/>
                  <a:pt x="49849" y="0"/>
                  <a:pt x="111341" y="0"/>
                </a:cubicBezTo>
                <a:close/>
              </a:path>
            </a:pathLst>
          </a:custGeom>
          <a:gradFill rotWithShape="1" flip="none">
            <a:gsLst>
              <a:gs pos="0">
                <a:srgbClr val="F0FDFA"/>
              </a:gs>
              <a:gs pos="100000">
                <a:srgbClr val="ECFEFF"/>
              </a:gs>
            </a:gsLst>
            <a:lin ang="2700000" scaled="1"/>
          </a:gradFill>
          <a:ln w="10160">
            <a:solidFill>
              <a:srgbClr val="96F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857" y="1529106"/>
            <a:ext cx="129900" cy="148457"/>
          </a:xfrm>
          <a:custGeom>
            <a:avLst/>
            <a:gdLst/>
            <a:ahLst/>
            <a:cxnLst/>
            <a:rect l="l" t="t" r="r" b="b"/>
            <a:pathLst>
              <a:path w="129900" h="148457">
                <a:moveTo>
                  <a:pt x="83507" y="0"/>
                </a:moveTo>
                <a:lnTo>
                  <a:pt x="37114" y="0"/>
                </a:lnTo>
                <a:cubicBezTo>
                  <a:pt x="31982" y="0"/>
                  <a:pt x="27836" y="4146"/>
                  <a:pt x="27836" y="9279"/>
                </a:cubicBezTo>
                <a:cubicBezTo>
                  <a:pt x="27836" y="14411"/>
                  <a:pt x="31982" y="18557"/>
                  <a:pt x="37114" y="18557"/>
                </a:cubicBezTo>
                <a:lnTo>
                  <a:pt x="37114" y="62485"/>
                </a:lnTo>
                <a:lnTo>
                  <a:pt x="2175" y="123608"/>
                </a:lnTo>
                <a:cubicBezTo>
                  <a:pt x="754" y="126130"/>
                  <a:pt x="0" y="128943"/>
                  <a:pt x="0" y="131842"/>
                </a:cubicBezTo>
                <a:cubicBezTo>
                  <a:pt x="0" y="141034"/>
                  <a:pt x="7423" y="148457"/>
                  <a:pt x="16614" y="148457"/>
                </a:cubicBezTo>
                <a:lnTo>
                  <a:pt x="113285" y="148457"/>
                </a:lnTo>
                <a:cubicBezTo>
                  <a:pt x="122448" y="148457"/>
                  <a:pt x="129900" y="141034"/>
                  <a:pt x="129900" y="131842"/>
                </a:cubicBezTo>
                <a:cubicBezTo>
                  <a:pt x="129900" y="128943"/>
                  <a:pt x="129146" y="126101"/>
                  <a:pt x="127725" y="123608"/>
                </a:cubicBezTo>
                <a:lnTo>
                  <a:pt x="92785" y="62485"/>
                </a:lnTo>
                <a:lnTo>
                  <a:pt x="92785" y="18557"/>
                </a:lnTo>
                <a:cubicBezTo>
                  <a:pt x="97918" y="18557"/>
                  <a:pt x="102064" y="14411"/>
                  <a:pt x="102064" y="9279"/>
                </a:cubicBezTo>
                <a:cubicBezTo>
                  <a:pt x="102064" y="4146"/>
                  <a:pt x="97918" y="0"/>
                  <a:pt x="92785" y="0"/>
                </a:cubicBezTo>
                <a:lnTo>
                  <a:pt x="83507" y="0"/>
                </a:lnTo>
                <a:close/>
                <a:moveTo>
                  <a:pt x="55671" y="62485"/>
                </a:moveTo>
                <a:lnTo>
                  <a:pt x="55671" y="18557"/>
                </a:lnTo>
                <a:lnTo>
                  <a:pt x="74228" y="18557"/>
                </a:lnTo>
                <a:lnTo>
                  <a:pt x="74228" y="62485"/>
                </a:lnTo>
                <a:cubicBezTo>
                  <a:pt x="74228" y="65704"/>
                  <a:pt x="75069" y="68893"/>
                  <a:pt x="76664" y="71706"/>
                </a:cubicBezTo>
                <a:lnTo>
                  <a:pt x="88726" y="92785"/>
                </a:lnTo>
                <a:lnTo>
                  <a:pt x="41174" y="92785"/>
                </a:lnTo>
                <a:lnTo>
                  <a:pt x="53236" y="71706"/>
                </a:lnTo>
                <a:cubicBezTo>
                  <a:pt x="54830" y="68893"/>
                  <a:pt x="55671" y="65733"/>
                  <a:pt x="55671" y="62485"/>
                </a:cubicBezTo>
                <a:close/>
              </a:path>
            </a:pathLst>
          </a:custGeom>
          <a:solidFill>
            <a:srgbClr val="009689"/>
          </a:solidFill>
          <a:ln/>
        </p:spPr>
      </p:sp>
      <p:sp>
        <p:nvSpPr>
          <p:cNvPr id="8" name="Text 6"/>
          <p:cNvSpPr/>
          <p:nvPr/>
        </p:nvSpPr>
        <p:spPr>
          <a:xfrm>
            <a:off x="712592" y="1491992"/>
            <a:ext cx="4064000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 Técnico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7021" y="1826019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0"/>
                </a:moveTo>
                <a:lnTo>
                  <a:pt x="111342" y="0"/>
                </a:lnTo>
                <a:cubicBezTo>
                  <a:pt x="172835" y="0"/>
                  <a:pt x="222685" y="49850"/>
                  <a:pt x="222685" y="111342"/>
                </a:cubicBezTo>
                <a:lnTo>
                  <a:pt x="222685" y="111342"/>
                </a:lnTo>
                <a:cubicBezTo>
                  <a:pt x="222685" y="172835"/>
                  <a:pt x="172835" y="222685"/>
                  <a:pt x="111342" y="222685"/>
                </a:cubicBezTo>
                <a:lnTo>
                  <a:pt x="111342" y="222685"/>
                </a:lnTo>
                <a:cubicBezTo>
                  <a:pt x="49850" y="222685"/>
                  <a:pt x="0" y="172835"/>
                  <a:pt x="0" y="111342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0" name="Text 8"/>
          <p:cNvSpPr/>
          <p:nvPr/>
        </p:nvSpPr>
        <p:spPr>
          <a:xfrm>
            <a:off x="499185" y="1826019"/>
            <a:ext cx="27835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3934" y="1826019"/>
            <a:ext cx="2403142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934" y="2011590"/>
            <a:ext cx="2393863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Activaciones A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última capa conv (7×7×512)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7021" y="2234157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0"/>
                </a:moveTo>
                <a:lnTo>
                  <a:pt x="111342" y="0"/>
                </a:lnTo>
                <a:cubicBezTo>
                  <a:pt x="172835" y="0"/>
                  <a:pt x="222685" y="49850"/>
                  <a:pt x="222685" y="111342"/>
                </a:cubicBezTo>
                <a:lnTo>
                  <a:pt x="222685" y="111342"/>
                </a:lnTo>
                <a:cubicBezTo>
                  <a:pt x="222685" y="172835"/>
                  <a:pt x="172835" y="222685"/>
                  <a:pt x="111342" y="222685"/>
                </a:cubicBezTo>
                <a:lnTo>
                  <a:pt x="111342" y="222685"/>
                </a:lnTo>
                <a:cubicBezTo>
                  <a:pt x="49850" y="222685"/>
                  <a:pt x="0" y="172835"/>
                  <a:pt x="0" y="111342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4" name="Text 12"/>
          <p:cNvSpPr/>
          <p:nvPr/>
        </p:nvSpPr>
        <p:spPr>
          <a:xfrm>
            <a:off x="499185" y="2234157"/>
            <a:ext cx="27835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9397" y="2234272"/>
            <a:ext cx="2254685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Pass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9397" y="2493838"/>
            <a:ext cx="2245406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Gradientes ∂y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/∂A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respecto a clase objetivo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7021" y="2642295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11342" y="0"/>
                </a:moveTo>
                <a:lnTo>
                  <a:pt x="111342" y="0"/>
                </a:lnTo>
                <a:cubicBezTo>
                  <a:pt x="172835" y="0"/>
                  <a:pt x="222685" y="49850"/>
                  <a:pt x="222685" y="111342"/>
                </a:cubicBezTo>
                <a:lnTo>
                  <a:pt x="222685" y="111342"/>
                </a:lnTo>
                <a:cubicBezTo>
                  <a:pt x="222685" y="172835"/>
                  <a:pt x="172835" y="222685"/>
                  <a:pt x="111342" y="222685"/>
                </a:cubicBezTo>
                <a:lnTo>
                  <a:pt x="111342" y="222685"/>
                </a:lnTo>
                <a:cubicBezTo>
                  <a:pt x="49850" y="222685"/>
                  <a:pt x="0" y="172835"/>
                  <a:pt x="0" y="111342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00BBA7"/>
          </a:solidFill>
          <a:ln/>
        </p:spPr>
      </p:sp>
      <p:sp>
        <p:nvSpPr>
          <p:cNvPr id="18" name="Text 16"/>
          <p:cNvSpPr/>
          <p:nvPr/>
        </p:nvSpPr>
        <p:spPr>
          <a:xfrm>
            <a:off x="499185" y="2642295"/>
            <a:ext cx="278356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9397" y="2493838"/>
            <a:ext cx="1512402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Ponderación + ReLU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9397" y="2864980"/>
            <a:ext cx="1503123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cGrad-CAM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ReLU(Σ α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ck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· A</a:t>
            </a:r>
            <a:pPr>
              <a:lnSpc>
                <a:spcPct val="110000"/>
              </a:lnSpc>
            </a:pPr>
            <a:r>
              <a:rPr lang="en-US" sz="658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4853" y="3247141"/>
            <a:ext cx="4479679" cy="2716756"/>
          </a:xfrm>
          <a:custGeom>
            <a:avLst/>
            <a:gdLst/>
            <a:ahLst/>
            <a:cxnLst/>
            <a:rect l="l" t="t" r="r" b="b"/>
            <a:pathLst>
              <a:path w="4479679" h="2716756">
                <a:moveTo>
                  <a:pt x="111333" y="0"/>
                </a:moveTo>
                <a:lnTo>
                  <a:pt x="4368346" y="0"/>
                </a:lnTo>
                <a:cubicBezTo>
                  <a:pt x="4429833" y="0"/>
                  <a:pt x="4479679" y="49845"/>
                  <a:pt x="4479679" y="111333"/>
                </a:cubicBezTo>
                <a:lnTo>
                  <a:pt x="4479679" y="2605423"/>
                </a:lnTo>
                <a:cubicBezTo>
                  <a:pt x="4479679" y="2666911"/>
                  <a:pt x="4429833" y="2716756"/>
                  <a:pt x="4368346" y="2716756"/>
                </a:cubicBezTo>
                <a:lnTo>
                  <a:pt x="111333" y="2716756"/>
                </a:lnTo>
                <a:cubicBezTo>
                  <a:pt x="49845" y="2716756"/>
                  <a:pt x="0" y="2666911"/>
                  <a:pt x="0" y="2605423"/>
                </a:cubicBezTo>
                <a:lnTo>
                  <a:pt x="0" y="111333"/>
                </a:lnTo>
                <a:cubicBezTo>
                  <a:pt x="0" y="49886"/>
                  <a:pt x="49886" y="0"/>
                  <a:pt x="11133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7836" dist="9279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5578" y="3436426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120621" y="60311"/>
                </a:moveTo>
                <a:cubicBezTo>
                  <a:pt x="120621" y="73619"/>
                  <a:pt x="116301" y="85913"/>
                  <a:pt x="109023" y="95888"/>
                </a:cubicBezTo>
                <a:lnTo>
                  <a:pt x="145731" y="132625"/>
                </a:lnTo>
                <a:cubicBezTo>
                  <a:pt x="149355" y="136250"/>
                  <a:pt x="149355" y="142136"/>
                  <a:pt x="145731" y="145760"/>
                </a:cubicBezTo>
                <a:cubicBezTo>
                  <a:pt x="142107" y="149384"/>
                  <a:pt x="136221" y="149384"/>
                  <a:pt x="132596" y="145760"/>
                </a:cubicBezTo>
                <a:lnTo>
                  <a:pt x="95888" y="109023"/>
                </a:lnTo>
                <a:cubicBezTo>
                  <a:pt x="85913" y="116301"/>
                  <a:pt x="73619" y="120621"/>
                  <a:pt x="60311" y="120621"/>
                </a:cubicBezTo>
                <a:cubicBezTo>
                  <a:pt x="26995" y="120621"/>
                  <a:pt x="0" y="93626"/>
                  <a:pt x="0" y="60311"/>
                </a:cubicBezTo>
                <a:cubicBezTo>
                  <a:pt x="0" y="26995"/>
                  <a:pt x="26995" y="0"/>
                  <a:pt x="60311" y="0"/>
                </a:cubicBezTo>
                <a:cubicBezTo>
                  <a:pt x="93626" y="0"/>
                  <a:pt x="120621" y="26995"/>
                  <a:pt x="120621" y="60311"/>
                </a:cubicBezTo>
                <a:close/>
                <a:moveTo>
                  <a:pt x="60311" y="102064"/>
                </a:moveTo>
                <a:cubicBezTo>
                  <a:pt x="83355" y="102064"/>
                  <a:pt x="102064" y="83355"/>
                  <a:pt x="102064" y="60311"/>
                </a:cubicBezTo>
                <a:cubicBezTo>
                  <a:pt x="102064" y="37266"/>
                  <a:pt x="83355" y="18557"/>
                  <a:pt x="60311" y="18557"/>
                </a:cubicBezTo>
                <a:cubicBezTo>
                  <a:pt x="37266" y="18557"/>
                  <a:pt x="18557" y="37266"/>
                  <a:pt x="18557" y="60311"/>
                </a:cubicBezTo>
                <a:cubicBezTo>
                  <a:pt x="18557" y="83355"/>
                  <a:pt x="37266" y="102064"/>
                  <a:pt x="60311" y="102064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23" name="Text 21"/>
          <p:cNvSpPr/>
          <p:nvPr/>
        </p:nvSpPr>
        <p:spPr>
          <a:xfrm>
            <a:off x="712592" y="3399311"/>
            <a:ext cx="4064000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Hallazgos del Análisis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5578" y="3733339"/>
            <a:ext cx="4156785" cy="742283"/>
          </a:xfrm>
          <a:custGeom>
            <a:avLst/>
            <a:gdLst/>
            <a:ahLst/>
            <a:cxnLst/>
            <a:rect l="l" t="t" r="r" b="b"/>
            <a:pathLst>
              <a:path w="4156785" h="742283">
                <a:moveTo>
                  <a:pt x="37114" y="0"/>
                </a:moveTo>
                <a:lnTo>
                  <a:pt x="4082557" y="0"/>
                </a:lnTo>
                <a:cubicBezTo>
                  <a:pt x="4123552" y="0"/>
                  <a:pt x="4156785" y="33233"/>
                  <a:pt x="4156785" y="74228"/>
                </a:cubicBezTo>
                <a:lnTo>
                  <a:pt x="4156785" y="668055"/>
                </a:lnTo>
                <a:cubicBezTo>
                  <a:pt x="4156785" y="709050"/>
                  <a:pt x="4123552" y="742283"/>
                  <a:pt x="4082557" y="742283"/>
                </a:cubicBezTo>
                <a:lnTo>
                  <a:pt x="37114" y="742283"/>
                </a:lnTo>
                <a:cubicBezTo>
                  <a:pt x="16630" y="742283"/>
                  <a:pt x="0" y="725653"/>
                  <a:pt x="0" y="70516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5578" y="3733339"/>
            <a:ext cx="37114" cy="742283"/>
          </a:xfrm>
          <a:custGeom>
            <a:avLst/>
            <a:gdLst/>
            <a:ahLst/>
            <a:cxnLst/>
            <a:rect l="l" t="t" r="r" b="b"/>
            <a:pathLst>
              <a:path w="37114" h="742283">
                <a:moveTo>
                  <a:pt x="37114" y="0"/>
                </a:moveTo>
                <a:lnTo>
                  <a:pt x="37114" y="0"/>
                </a:lnTo>
                <a:lnTo>
                  <a:pt x="37114" y="742283"/>
                </a:lnTo>
                <a:lnTo>
                  <a:pt x="37114" y="742283"/>
                </a:lnTo>
                <a:cubicBezTo>
                  <a:pt x="16630" y="742283"/>
                  <a:pt x="0" y="725653"/>
                  <a:pt x="0" y="705169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Text 24"/>
          <p:cNvSpPr/>
          <p:nvPr/>
        </p:nvSpPr>
        <p:spPr>
          <a:xfrm>
            <a:off x="675478" y="3844681"/>
            <a:ext cx="3980493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Clase REAL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5478" y="4067366"/>
            <a:ext cx="3971215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Focalización en </a:t>
            </a:r>
            <a:pPr>
              <a:lnSpc>
                <a:spcPct val="110000"/>
              </a:lnSpc>
            </a:pPr>
            <a:r>
              <a:rPr lang="en-US" sz="877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ojos y región periocular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coherencia de estructuras faciales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5578" y="4549615"/>
            <a:ext cx="4156785" cy="593826"/>
          </a:xfrm>
          <a:custGeom>
            <a:avLst/>
            <a:gdLst/>
            <a:ahLst/>
            <a:cxnLst/>
            <a:rect l="l" t="t" r="r" b="b"/>
            <a:pathLst>
              <a:path w="4156785" h="593826">
                <a:moveTo>
                  <a:pt x="37114" y="0"/>
                </a:moveTo>
                <a:lnTo>
                  <a:pt x="4082557" y="0"/>
                </a:lnTo>
                <a:cubicBezTo>
                  <a:pt x="4123552" y="0"/>
                  <a:pt x="4156785" y="33233"/>
                  <a:pt x="4156785" y="74228"/>
                </a:cubicBezTo>
                <a:lnTo>
                  <a:pt x="4156785" y="519598"/>
                </a:lnTo>
                <a:cubicBezTo>
                  <a:pt x="4156785" y="560593"/>
                  <a:pt x="4123552" y="593826"/>
                  <a:pt x="4082557" y="593826"/>
                </a:cubicBezTo>
                <a:lnTo>
                  <a:pt x="37114" y="593826"/>
                </a:lnTo>
                <a:cubicBezTo>
                  <a:pt x="16630" y="593826"/>
                  <a:pt x="0" y="577196"/>
                  <a:pt x="0" y="55671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45578" y="4549615"/>
            <a:ext cx="37114" cy="593826"/>
          </a:xfrm>
          <a:custGeom>
            <a:avLst/>
            <a:gdLst/>
            <a:ahLst/>
            <a:cxnLst/>
            <a:rect l="l" t="t" r="r" b="b"/>
            <a:pathLst>
              <a:path w="37114" h="593826">
                <a:moveTo>
                  <a:pt x="37114" y="0"/>
                </a:moveTo>
                <a:lnTo>
                  <a:pt x="37114" y="0"/>
                </a:lnTo>
                <a:lnTo>
                  <a:pt x="37114" y="593826"/>
                </a:lnTo>
                <a:lnTo>
                  <a:pt x="37114" y="593826"/>
                </a:lnTo>
                <a:cubicBezTo>
                  <a:pt x="16630" y="593826"/>
                  <a:pt x="0" y="577196"/>
                  <a:pt x="0" y="55671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Text 28"/>
          <p:cNvSpPr/>
          <p:nvPr/>
        </p:nvSpPr>
        <p:spPr>
          <a:xfrm>
            <a:off x="675478" y="4660957"/>
            <a:ext cx="3980493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9F071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Clase FAKE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478" y="4883642"/>
            <a:ext cx="3971215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en </a:t>
            </a:r>
            <a:pPr>
              <a:lnSpc>
                <a:spcPct val="110000"/>
              </a:lnSpc>
            </a:pPr>
            <a:r>
              <a:rPr lang="en-US" sz="877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mejillas, cuello y barbilla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anomalías de textura y bordes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5578" y="5217556"/>
            <a:ext cx="4156785" cy="593826"/>
          </a:xfrm>
          <a:custGeom>
            <a:avLst/>
            <a:gdLst/>
            <a:ahLst/>
            <a:cxnLst/>
            <a:rect l="l" t="t" r="r" b="b"/>
            <a:pathLst>
              <a:path w="4156785" h="593826">
                <a:moveTo>
                  <a:pt x="37114" y="0"/>
                </a:moveTo>
                <a:lnTo>
                  <a:pt x="4082557" y="0"/>
                </a:lnTo>
                <a:cubicBezTo>
                  <a:pt x="4123552" y="0"/>
                  <a:pt x="4156785" y="33233"/>
                  <a:pt x="4156785" y="74228"/>
                </a:cubicBezTo>
                <a:lnTo>
                  <a:pt x="4156785" y="519598"/>
                </a:lnTo>
                <a:cubicBezTo>
                  <a:pt x="4156785" y="560593"/>
                  <a:pt x="4123552" y="593826"/>
                  <a:pt x="4082557" y="593826"/>
                </a:cubicBezTo>
                <a:lnTo>
                  <a:pt x="37114" y="593826"/>
                </a:lnTo>
                <a:cubicBezTo>
                  <a:pt x="16630" y="593826"/>
                  <a:pt x="0" y="577196"/>
                  <a:pt x="0" y="55671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45578" y="5217556"/>
            <a:ext cx="37114" cy="593826"/>
          </a:xfrm>
          <a:custGeom>
            <a:avLst/>
            <a:gdLst/>
            <a:ahLst/>
            <a:cxnLst/>
            <a:rect l="l" t="t" r="r" b="b"/>
            <a:pathLst>
              <a:path w="37114" h="593826">
                <a:moveTo>
                  <a:pt x="37114" y="0"/>
                </a:moveTo>
                <a:lnTo>
                  <a:pt x="37114" y="0"/>
                </a:lnTo>
                <a:lnTo>
                  <a:pt x="37114" y="593826"/>
                </a:lnTo>
                <a:lnTo>
                  <a:pt x="37114" y="593826"/>
                </a:lnTo>
                <a:cubicBezTo>
                  <a:pt x="16630" y="593826"/>
                  <a:pt x="0" y="577196"/>
                  <a:pt x="0" y="556712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75478" y="5328899"/>
            <a:ext cx="3980493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93C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↔ Estrategia Dual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478" y="5551584"/>
            <a:ext cx="3971215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utiliza </a:t>
            </a:r>
            <a:pPr>
              <a:lnSpc>
                <a:spcPct val="110000"/>
              </a:lnSpc>
            </a:pPr>
            <a:r>
              <a:rPr lang="en-US" sz="877" b="1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diferenciadas</a:t>
            </a:r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según la clase objetivo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1142" y="6078489"/>
            <a:ext cx="4490813" cy="779397"/>
          </a:xfrm>
          <a:custGeom>
            <a:avLst/>
            <a:gdLst/>
            <a:ahLst/>
            <a:cxnLst/>
            <a:rect l="l" t="t" r="r" b="b"/>
            <a:pathLst>
              <a:path w="4490813" h="779397">
                <a:moveTo>
                  <a:pt x="111345" y="0"/>
                </a:moveTo>
                <a:lnTo>
                  <a:pt x="4379468" y="0"/>
                </a:lnTo>
                <a:cubicBezTo>
                  <a:pt x="4440962" y="0"/>
                  <a:pt x="4490813" y="49851"/>
                  <a:pt x="4490813" y="111345"/>
                </a:cubicBezTo>
                <a:lnTo>
                  <a:pt x="4490813" y="668053"/>
                </a:lnTo>
                <a:cubicBezTo>
                  <a:pt x="4490813" y="729547"/>
                  <a:pt x="4440962" y="779397"/>
                  <a:pt x="4379468" y="779397"/>
                </a:cubicBezTo>
                <a:lnTo>
                  <a:pt x="111345" y="779397"/>
                </a:lnTo>
                <a:cubicBezTo>
                  <a:pt x="49851" y="779397"/>
                  <a:pt x="0" y="729547"/>
                  <a:pt x="0" y="668053"/>
                </a:cubicBezTo>
                <a:lnTo>
                  <a:pt x="0" y="111345"/>
                </a:lnTo>
                <a:cubicBezTo>
                  <a:pt x="0" y="49892"/>
                  <a:pt x="49892" y="0"/>
                  <a:pt x="111345" y="0"/>
                </a:cubicBezTo>
                <a:close/>
              </a:path>
            </a:pathLst>
          </a:custGeom>
          <a:gradFill rotWithShape="1" flip="none">
            <a:gsLst>
              <a:gs pos="0">
                <a:srgbClr val="1D293D"/>
              </a:gs>
              <a:gs pos="100000">
                <a:srgbClr val="0F172B"/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519598" y="6375285"/>
            <a:ext cx="185571" cy="185571"/>
          </a:xfrm>
          <a:custGeom>
            <a:avLst/>
            <a:gdLst/>
            <a:ahLst/>
            <a:cxnLst/>
            <a:rect l="l" t="t" r="r" b="b"/>
            <a:pathLst>
              <a:path w="185571" h="185571">
                <a:moveTo>
                  <a:pt x="92785" y="0"/>
                </a:moveTo>
                <a:cubicBezTo>
                  <a:pt x="94453" y="0"/>
                  <a:pt x="96120" y="362"/>
                  <a:pt x="97642" y="1051"/>
                </a:cubicBezTo>
                <a:lnTo>
                  <a:pt x="165926" y="30010"/>
                </a:lnTo>
                <a:cubicBezTo>
                  <a:pt x="173900" y="33381"/>
                  <a:pt x="179844" y="41246"/>
                  <a:pt x="179808" y="50742"/>
                </a:cubicBezTo>
                <a:cubicBezTo>
                  <a:pt x="179627" y="86696"/>
                  <a:pt x="164839" y="152480"/>
                  <a:pt x="102390" y="182381"/>
                </a:cubicBezTo>
                <a:cubicBezTo>
                  <a:pt x="96337" y="185281"/>
                  <a:pt x="89306" y="185281"/>
                  <a:pt x="83253" y="182381"/>
                </a:cubicBezTo>
                <a:cubicBezTo>
                  <a:pt x="20768" y="152480"/>
                  <a:pt x="6017" y="86696"/>
                  <a:pt x="5835" y="50742"/>
                </a:cubicBezTo>
                <a:cubicBezTo>
                  <a:pt x="5799" y="41246"/>
                  <a:pt x="11743" y="33381"/>
                  <a:pt x="19717" y="30010"/>
                </a:cubicBezTo>
                <a:lnTo>
                  <a:pt x="87965" y="1051"/>
                </a:lnTo>
                <a:cubicBezTo>
                  <a:pt x="89487" y="362"/>
                  <a:pt x="91118" y="0"/>
                  <a:pt x="92785" y="0"/>
                </a:cubicBezTo>
                <a:close/>
                <a:moveTo>
                  <a:pt x="92785" y="24211"/>
                </a:moveTo>
                <a:lnTo>
                  <a:pt x="92785" y="161251"/>
                </a:lnTo>
                <a:cubicBezTo>
                  <a:pt x="142803" y="137040"/>
                  <a:pt x="156249" y="83398"/>
                  <a:pt x="156575" y="51286"/>
                </a:cubicBezTo>
                <a:lnTo>
                  <a:pt x="92785" y="24247"/>
                </a:lnTo>
                <a:lnTo>
                  <a:pt x="92785" y="2424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8" name="Text 36"/>
          <p:cNvSpPr/>
          <p:nvPr/>
        </p:nvSpPr>
        <p:spPr>
          <a:xfrm>
            <a:off x="816279" y="6226946"/>
            <a:ext cx="3961936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Crítica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6279" y="6412517"/>
            <a:ext cx="395265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NO aprende artefactos del dataset (logos, bordes) sino características faciales genuinas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13195" y="1339821"/>
            <a:ext cx="6799313" cy="3533268"/>
          </a:xfrm>
          <a:custGeom>
            <a:avLst/>
            <a:gdLst/>
            <a:ahLst/>
            <a:cxnLst/>
            <a:rect l="l" t="t" r="r" b="b"/>
            <a:pathLst>
              <a:path w="6799313" h="3533268">
                <a:moveTo>
                  <a:pt x="111333" y="0"/>
                </a:moveTo>
                <a:lnTo>
                  <a:pt x="6687980" y="0"/>
                </a:lnTo>
                <a:cubicBezTo>
                  <a:pt x="6749468" y="0"/>
                  <a:pt x="6799313" y="49846"/>
                  <a:pt x="6799313" y="111333"/>
                </a:cubicBezTo>
                <a:lnTo>
                  <a:pt x="6799313" y="3421934"/>
                </a:lnTo>
                <a:cubicBezTo>
                  <a:pt x="6799313" y="3483422"/>
                  <a:pt x="6749468" y="3533268"/>
                  <a:pt x="6687980" y="3533268"/>
                </a:cubicBezTo>
                <a:lnTo>
                  <a:pt x="111333" y="3533268"/>
                </a:lnTo>
                <a:cubicBezTo>
                  <a:pt x="49846" y="3533268"/>
                  <a:pt x="0" y="3483422"/>
                  <a:pt x="0" y="3421934"/>
                </a:cubicBezTo>
                <a:lnTo>
                  <a:pt x="0" y="111333"/>
                </a:lnTo>
                <a:cubicBezTo>
                  <a:pt x="0" y="49887"/>
                  <a:pt x="49887" y="0"/>
                  <a:pt x="11133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7836" dist="9279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74641" y="1529106"/>
            <a:ext cx="167014" cy="148457"/>
          </a:xfrm>
          <a:custGeom>
            <a:avLst/>
            <a:gdLst/>
            <a:ahLst/>
            <a:cxnLst/>
            <a:rect l="l" t="t" r="r" b="b"/>
            <a:pathLst>
              <a:path w="167014" h="148457">
                <a:moveTo>
                  <a:pt x="27836" y="27836"/>
                </a:moveTo>
                <a:cubicBezTo>
                  <a:pt x="27836" y="17600"/>
                  <a:pt x="36157" y="9279"/>
                  <a:pt x="46393" y="9279"/>
                </a:cubicBezTo>
                <a:lnTo>
                  <a:pt x="139178" y="9279"/>
                </a:lnTo>
                <a:cubicBezTo>
                  <a:pt x="149413" y="9279"/>
                  <a:pt x="157735" y="17600"/>
                  <a:pt x="157735" y="27836"/>
                </a:cubicBezTo>
                <a:lnTo>
                  <a:pt x="157735" y="102064"/>
                </a:lnTo>
                <a:cubicBezTo>
                  <a:pt x="157735" y="112299"/>
                  <a:pt x="149413" y="120621"/>
                  <a:pt x="139178" y="120621"/>
                </a:cubicBezTo>
                <a:lnTo>
                  <a:pt x="46393" y="120621"/>
                </a:lnTo>
                <a:cubicBezTo>
                  <a:pt x="36157" y="120621"/>
                  <a:pt x="27836" y="112299"/>
                  <a:pt x="27836" y="102064"/>
                </a:cubicBezTo>
                <a:lnTo>
                  <a:pt x="27836" y="27836"/>
                </a:lnTo>
                <a:close/>
                <a:moveTo>
                  <a:pt x="6959" y="37114"/>
                </a:moveTo>
                <a:cubicBezTo>
                  <a:pt x="10815" y="37114"/>
                  <a:pt x="13918" y="40217"/>
                  <a:pt x="13918" y="44073"/>
                </a:cubicBezTo>
                <a:lnTo>
                  <a:pt x="13918" y="129900"/>
                </a:lnTo>
                <a:cubicBezTo>
                  <a:pt x="13918" y="132451"/>
                  <a:pt x="16005" y="134539"/>
                  <a:pt x="18557" y="134539"/>
                </a:cubicBezTo>
                <a:lnTo>
                  <a:pt x="122941" y="134539"/>
                </a:lnTo>
                <a:cubicBezTo>
                  <a:pt x="126797" y="134539"/>
                  <a:pt x="129900" y="137641"/>
                  <a:pt x="129900" y="141498"/>
                </a:cubicBezTo>
                <a:cubicBezTo>
                  <a:pt x="129900" y="145354"/>
                  <a:pt x="126797" y="148457"/>
                  <a:pt x="122941" y="148457"/>
                </a:cubicBezTo>
                <a:lnTo>
                  <a:pt x="18557" y="148457"/>
                </a:lnTo>
                <a:cubicBezTo>
                  <a:pt x="8322" y="148457"/>
                  <a:pt x="0" y="140135"/>
                  <a:pt x="0" y="129900"/>
                </a:cubicBezTo>
                <a:lnTo>
                  <a:pt x="0" y="44073"/>
                </a:lnTo>
                <a:cubicBezTo>
                  <a:pt x="0" y="40217"/>
                  <a:pt x="3103" y="37114"/>
                  <a:pt x="6959" y="37114"/>
                </a:cubicBezTo>
                <a:close/>
                <a:moveTo>
                  <a:pt x="55671" y="46393"/>
                </a:moveTo>
                <a:cubicBezTo>
                  <a:pt x="60792" y="46393"/>
                  <a:pt x="64950" y="42235"/>
                  <a:pt x="64950" y="37114"/>
                </a:cubicBezTo>
                <a:cubicBezTo>
                  <a:pt x="64950" y="31993"/>
                  <a:pt x="60792" y="27836"/>
                  <a:pt x="55671" y="27836"/>
                </a:cubicBezTo>
                <a:cubicBezTo>
                  <a:pt x="50550" y="27836"/>
                  <a:pt x="46393" y="31993"/>
                  <a:pt x="46393" y="37114"/>
                </a:cubicBezTo>
                <a:cubicBezTo>
                  <a:pt x="46393" y="42235"/>
                  <a:pt x="50550" y="46393"/>
                  <a:pt x="55671" y="46393"/>
                </a:cubicBezTo>
                <a:close/>
                <a:moveTo>
                  <a:pt x="112647" y="49727"/>
                </a:moveTo>
                <a:cubicBezTo>
                  <a:pt x="111371" y="47668"/>
                  <a:pt x="109139" y="46393"/>
                  <a:pt x="106703" y="46393"/>
                </a:cubicBezTo>
                <a:cubicBezTo>
                  <a:pt x="104268" y="46393"/>
                  <a:pt x="102035" y="47668"/>
                  <a:pt x="100759" y="49727"/>
                </a:cubicBezTo>
                <a:lnTo>
                  <a:pt x="84435" y="76432"/>
                </a:lnTo>
                <a:lnTo>
                  <a:pt x="77331" y="67559"/>
                </a:lnTo>
                <a:cubicBezTo>
                  <a:pt x="75997" y="65907"/>
                  <a:pt x="74025" y="64950"/>
                  <a:pt x="71909" y="64950"/>
                </a:cubicBezTo>
                <a:cubicBezTo>
                  <a:pt x="69792" y="64950"/>
                  <a:pt x="67791" y="65907"/>
                  <a:pt x="66487" y="67559"/>
                </a:cubicBezTo>
                <a:lnTo>
                  <a:pt x="47929" y="90756"/>
                </a:lnTo>
                <a:cubicBezTo>
                  <a:pt x="46248" y="92843"/>
                  <a:pt x="45929" y="95714"/>
                  <a:pt x="47089" y="98121"/>
                </a:cubicBezTo>
                <a:cubicBezTo>
                  <a:pt x="48248" y="100527"/>
                  <a:pt x="50684" y="102064"/>
                  <a:pt x="53352" y="102064"/>
                </a:cubicBezTo>
                <a:lnTo>
                  <a:pt x="132219" y="102064"/>
                </a:lnTo>
                <a:cubicBezTo>
                  <a:pt x="134742" y="102064"/>
                  <a:pt x="137061" y="100701"/>
                  <a:pt x="138279" y="98497"/>
                </a:cubicBezTo>
                <a:cubicBezTo>
                  <a:pt x="139497" y="96294"/>
                  <a:pt x="139468" y="93626"/>
                  <a:pt x="138134" y="91452"/>
                </a:cubicBezTo>
                <a:lnTo>
                  <a:pt x="112618" y="49698"/>
                </a:ln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2" name="Text 40"/>
          <p:cNvSpPr/>
          <p:nvPr/>
        </p:nvSpPr>
        <p:spPr>
          <a:xfrm>
            <a:off x="5350933" y="1491992"/>
            <a:ext cx="3757808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Grad-CAM - Fotografías Reales de Amigos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511199" y="1510549"/>
            <a:ext cx="2217571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acierto en validación externa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65363" y="1826019"/>
            <a:ext cx="2087671" cy="1039196"/>
          </a:xfrm>
          <a:custGeom>
            <a:avLst/>
            <a:gdLst/>
            <a:ahLst/>
            <a:cxnLst/>
            <a:rect l="l" t="t" r="r" b="b"/>
            <a:pathLst>
              <a:path w="2087671" h="1039196">
                <a:moveTo>
                  <a:pt x="74230" y="0"/>
                </a:moveTo>
                <a:lnTo>
                  <a:pt x="2013441" y="0"/>
                </a:lnTo>
                <a:cubicBezTo>
                  <a:pt x="2054437" y="0"/>
                  <a:pt x="2087671" y="33234"/>
                  <a:pt x="2087671" y="74230"/>
                </a:cubicBezTo>
                <a:lnTo>
                  <a:pt x="2087671" y="964967"/>
                </a:lnTo>
                <a:cubicBezTo>
                  <a:pt x="2087671" y="1005963"/>
                  <a:pt x="2054437" y="1039196"/>
                  <a:pt x="2013441" y="1039196"/>
                </a:cubicBezTo>
                <a:lnTo>
                  <a:pt x="74230" y="1039196"/>
                </a:lnTo>
                <a:cubicBezTo>
                  <a:pt x="33261" y="1039196"/>
                  <a:pt x="0" y="1005935"/>
                  <a:pt x="0" y="964967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5988369" y="2011590"/>
            <a:ext cx="445370" cy="445370"/>
          </a:xfrm>
          <a:custGeom>
            <a:avLst/>
            <a:gdLst/>
            <a:ahLst/>
            <a:cxnLst/>
            <a:rect l="l" t="t" r="r" b="b"/>
            <a:pathLst>
              <a:path w="445370" h="445370">
                <a:moveTo>
                  <a:pt x="347075" y="334201"/>
                </a:moveTo>
                <a:cubicBezTo>
                  <a:pt x="327851" y="300799"/>
                  <a:pt x="291752" y="278356"/>
                  <a:pt x="250521" y="278356"/>
                </a:cubicBezTo>
                <a:lnTo>
                  <a:pt x="194849" y="278356"/>
                </a:lnTo>
                <a:cubicBezTo>
                  <a:pt x="153618" y="278356"/>
                  <a:pt x="117518" y="300799"/>
                  <a:pt x="98295" y="334201"/>
                </a:cubicBezTo>
                <a:cubicBezTo>
                  <a:pt x="128914" y="368300"/>
                  <a:pt x="173277" y="389699"/>
                  <a:pt x="222685" y="389699"/>
                </a:cubicBezTo>
                <a:cubicBezTo>
                  <a:pt x="272093" y="389699"/>
                  <a:pt x="316456" y="368213"/>
                  <a:pt x="347075" y="334201"/>
                </a:cubicBezTo>
                <a:close/>
                <a:moveTo>
                  <a:pt x="0" y="222685"/>
                </a:moveTo>
                <a:cubicBezTo>
                  <a:pt x="0" y="99782"/>
                  <a:pt x="99782" y="0"/>
                  <a:pt x="222685" y="0"/>
                </a:cubicBezTo>
                <a:cubicBezTo>
                  <a:pt x="345588" y="0"/>
                  <a:pt x="445370" y="99782"/>
                  <a:pt x="445370" y="222685"/>
                </a:cubicBezTo>
                <a:cubicBezTo>
                  <a:pt x="445370" y="345588"/>
                  <a:pt x="345588" y="445370"/>
                  <a:pt x="222685" y="445370"/>
                </a:cubicBezTo>
                <a:cubicBezTo>
                  <a:pt x="99782" y="445370"/>
                  <a:pt x="0" y="345588"/>
                  <a:pt x="0" y="222685"/>
                </a:cubicBezTo>
                <a:close/>
                <a:moveTo>
                  <a:pt x="222685" y="236603"/>
                </a:moveTo>
                <a:cubicBezTo>
                  <a:pt x="257251" y="236603"/>
                  <a:pt x="285315" y="208539"/>
                  <a:pt x="285315" y="173973"/>
                </a:cubicBezTo>
                <a:cubicBezTo>
                  <a:pt x="285315" y="139406"/>
                  <a:pt x="257251" y="111342"/>
                  <a:pt x="222685" y="111342"/>
                </a:cubicBezTo>
                <a:cubicBezTo>
                  <a:pt x="188118" y="111342"/>
                  <a:pt x="160055" y="139406"/>
                  <a:pt x="160055" y="173973"/>
                </a:cubicBezTo>
                <a:cubicBezTo>
                  <a:pt x="160055" y="208539"/>
                  <a:pt x="188118" y="236603"/>
                  <a:pt x="222685" y="236603"/>
                </a:cubicBez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46" name="Text 44"/>
          <p:cNvSpPr/>
          <p:nvPr/>
        </p:nvSpPr>
        <p:spPr>
          <a:xfrm>
            <a:off x="5879926" y="2531188"/>
            <a:ext cx="658776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amigo2.jpeg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37527" y="2939444"/>
            <a:ext cx="214334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Predicción: REAL (96.5%)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65363" y="3124897"/>
            <a:ext cx="2087671" cy="445370"/>
          </a:xfrm>
          <a:custGeom>
            <a:avLst/>
            <a:gdLst/>
            <a:ahLst/>
            <a:cxnLst/>
            <a:rect l="l" t="t" r="r" b="b"/>
            <a:pathLst>
              <a:path w="2087671" h="445370">
                <a:moveTo>
                  <a:pt x="37113" y="0"/>
                </a:moveTo>
                <a:lnTo>
                  <a:pt x="2050559" y="0"/>
                </a:lnTo>
                <a:cubicBezTo>
                  <a:pt x="2071055" y="0"/>
                  <a:pt x="2087671" y="16616"/>
                  <a:pt x="2087671" y="37113"/>
                </a:cubicBezTo>
                <a:lnTo>
                  <a:pt x="2087671" y="408257"/>
                </a:lnTo>
                <a:cubicBezTo>
                  <a:pt x="2087671" y="428754"/>
                  <a:pt x="2071055" y="445370"/>
                  <a:pt x="2050559" y="445370"/>
                </a:cubicBezTo>
                <a:lnTo>
                  <a:pt x="37113" y="445370"/>
                </a:lnTo>
                <a:cubicBezTo>
                  <a:pt x="16616" y="445370"/>
                  <a:pt x="0" y="428754"/>
                  <a:pt x="0" y="408257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9" name="Text 47"/>
          <p:cNvSpPr/>
          <p:nvPr/>
        </p:nvSpPr>
        <p:spPr>
          <a:xfrm>
            <a:off x="5137527" y="3124897"/>
            <a:ext cx="2143342" cy="445370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Heatmap concentrado en ojos y cejas — centrado facial óptimo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68320" y="1826019"/>
            <a:ext cx="2087671" cy="1039196"/>
          </a:xfrm>
          <a:custGeom>
            <a:avLst/>
            <a:gdLst/>
            <a:ahLst/>
            <a:cxnLst/>
            <a:rect l="l" t="t" r="r" b="b"/>
            <a:pathLst>
              <a:path w="2087671" h="1039196">
                <a:moveTo>
                  <a:pt x="74230" y="0"/>
                </a:moveTo>
                <a:lnTo>
                  <a:pt x="2013441" y="0"/>
                </a:lnTo>
                <a:cubicBezTo>
                  <a:pt x="2054437" y="0"/>
                  <a:pt x="2087671" y="33234"/>
                  <a:pt x="2087671" y="74230"/>
                </a:cubicBezTo>
                <a:lnTo>
                  <a:pt x="2087671" y="964967"/>
                </a:lnTo>
                <a:cubicBezTo>
                  <a:pt x="2087671" y="1005963"/>
                  <a:pt x="2054437" y="1039196"/>
                  <a:pt x="2013441" y="1039196"/>
                </a:cubicBezTo>
                <a:lnTo>
                  <a:pt x="74230" y="1039196"/>
                </a:lnTo>
                <a:cubicBezTo>
                  <a:pt x="33261" y="1039196"/>
                  <a:pt x="0" y="1005935"/>
                  <a:pt x="0" y="964967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51" name="Shape 49"/>
          <p:cNvSpPr/>
          <p:nvPr/>
        </p:nvSpPr>
        <p:spPr>
          <a:xfrm>
            <a:off x="8191326" y="2011590"/>
            <a:ext cx="445370" cy="445370"/>
          </a:xfrm>
          <a:custGeom>
            <a:avLst/>
            <a:gdLst/>
            <a:ahLst/>
            <a:cxnLst/>
            <a:rect l="l" t="t" r="r" b="b"/>
            <a:pathLst>
              <a:path w="445370" h="445370">
                <a:moveTo>
                  <a:pt x="347075" y="334201"/>
                </a:moveTo>
                <a:cubicBezTo>
                  <a:pt x="327851" y="300799"/>
                  <a:pt x="291752" y="278356"/>
                  <a:pt x="250521" y="278356"/>
                </a:cubicBezTo>
                <a:lnTo>
                  <a:pt x="194849" y="278356"/>
                </a:lnTo>
                <a:cubicBezTo>
                  <a:pt x="153618" y="278356"/>
                  <a:pt x="117518" y="300799"/>
                  <a:pt x="98295" y="334201"/>
                </a:cubicBezTo>
                <a:cubicBezTo>
                  <a:pt x="128914" y="368300"/>
                  <a:pt x="173277" y="389699"/>
                  <a:pt x="222685" y="389699"/>
                </a:cubicBezTo>
                <a:cubicBezTo>
                  <a:pt x="272093" y="389699"/>
                  <a:pt x="316456" y="368213"/>
                  <a:pt x="347075" y="334201"/>
                </a:cubicBezTo>
                <a:close/>
                <a:moveTo>
                  <a:pt x="0" y="222685"/>
                </a:moveTo>
                <a:cubicBezTo>
                  <a:pt x="0" y="99782"/>
                  <a:pt x="99782" y="0"/>
                  <a:pt x="222685" y="0"/>
                </a:cubicBezTo>
                <a:cubicBezTo>
                  <a:pt x="345588" y="0"/>
                  <a:pt x="445370" y="99782"/>
                  <a:pt x="445370" y="222685"/>
                </a:cubicBezTo>
                <a:cubicBezTo>
                  <a:pt x="445370" y="345588"/>
                  <a:pt x="345588" y="445370"/>
                  <a:pt x="222685" y="445370"/>
                </a:cubicBezTo>
                <a:cubicBezTo>
                  <a:pt x="99782" y="445370"/>
                  <a:pt x="0" y="345588"/>
                  <a:pt x="0" y="222685"/>
                </a:cubicBezTo>
                <a:close/>
                <a:moveTo>
                  <a:pt x="222685" y="236603"/>
                </a:moveTo>
                <a:cubicBezTo>
                  <a:pt x="257251" y="236603"/>
                  <a:pt x="285315" y="208539"/>
                  <a:pt x="285315" y="173973"/>
                </a:cubicBezTo>
                <a:cubicBezTo>
                  <a:pt x="285315" y="139406"/>
                  <a:pt x="257251" y="111342"/>
                  <a:pt x="222685" y="111342"/>
                </a:cubicBezTo>
                <a:cubicBezTo>
                  <a:pt x="188118" y="111342"/>
                  <a:pt x="160055" y="139406"/>
                  <a:pt x="160055" y="173973"/>
                </a:cubicBezTo>
                <a:cubicBezTo>
                  <a:pt x="160055" y="208539"/>
                  <a:pt x="188118" y="236603"/>
                  <a:pt x="222685" y="236603"/>
                </a:cubicBez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52" name="Text 50"/>
          <p:cNvSpPr/>
          <p:nvPr/>
        </p:nvSpPr>
        <p:spPr>
          <a:xfrm>
            <a:off x="8082883" y="2531188"/>
            <a:ext cx="658776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amigo3.jpeg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40484" y="2939444"/>
            <a:ext cx="214334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Predicción: REAL (90.4%)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68320" y="3124897"/>
            <a:ext cx="2087671" cy="445370"/>
          </a:xfrm>
          <a:custGeom>
            <a:avLst/>
            <a:gdLst/>
            <a:ahLst/>
            <a:cxnLst/>
            <a:rect l="l" t="t" r="r" b="b"/>
            <a:pathLst>
              <a:path w="2087671" h="445370">
                <a:moveTo>
                  <a:pt x="37113" y="0"/>
                </a:moveTo>
                <a:lnTo>
                  <a:pt x="2050559" y="0"/>
                </a:lnTo>
                <a:cubicBezTo>
                  <a:pt x="2071055" y="0"/>
                  <a:pt x="2087671" y="16616"/>
                  <a:pt x="2087671" y="37113"/>
                </a:cubicBezTo>
                <a:lnTo>
                  <a:pt x="2087671" y="408257"/>
                </a:lnTo>
                <a:cubicBezTo>
                  <a:pt x="2087671" y="428754"/>
                  <a:pt x="2071055" y="445370"/>
                  <a:pt x="2050559" y="445370"/>
                </a:cubicBezTo>
                <a:lnTo>
                  <a:pt x="37113" y="445370"/>
                </a:lnTo>
                <a:cubicBezTo>
                  <a:pt x="16616" y="445370"/>
                  <a:pt x="0" y="428754"/>
                  <a:pt x="0" y="408257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55" name="Text 53"/>
          <p:cNvSpPr/>
          <p:nvPr/>
        </p:nvSpPr>
        <p:spPr>
          <a:xfrm>
            <a:off x="7340484" y="3124897"/>
            <a:ext cx="2143342" cy="445370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Focalización ocular nítida — buena alineación MTCNN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571277" y="1826019"/>
            <a:ext cx="2087671" cy="1039196"/>
          </a:xfrm>
          <a:custGeom>
            <a:avLst/>
            <a:gdLst/>
            <a:ahLst/>
            <a:cxnLst/>
            <a:rect l="l" t="t" r="r" b="b"/>
            <a:pathLst>
              <a:path w="2087671" h="1039196">
                <a:moveTo>
                  <a:pt x="74230" y="0"/>
                </a:moveTo>
                <a:lnTo>
                  <a:pt x="2013441" y="0"/>
                </a:lnTo>
                <a:cubicBezTo>
                  <a:pt x="2054437" y="0"/>
                  <a:pt x="2087671" y="33234"/>
                  <a:pt x="2087671" y="74230"/>
                </a:cubicBezTo>
                <a:lnTo>
                  <a:pt x="2087671" y="964967"/>
                </a:lnTo>
                <a:cubicBezTo>
                  <a:pt x="2087671" y="1005963"/>
                  <a:pt x="2054437" y="1039196"/>
                  <a:pt x="2013441" y="1039196"/>
                </a:cubicBezTo>
                <a:lnTo>
                  <a:pt x="74230" y="1039196"/>
                </a:lnTo>
                <a:cubicBezTo>
                  <a:pt x="33261" y="1039196"/>
                  <a:pt x="0" y="1005935"/>
                  <a:pt x="0" y="964967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57" name="Shape 55"/>
          <p:cNvSpPr/>
          <p:nvPr/>
        </p:nvSpPr>
        <p:spPr>
          <a:xfrm>
            <a:off x="10394283" y="2011590"/>
            <a:ext cx="445370" cy="445370"/>
          </a:xfrm>
          <a:custGeom>
            <a:avLst/>
            <a:gdLst/>
            <a:ahLst/>
            <a:cxnLst/>
            <a:rect l="l" t="t" r="r" b="b"/>
            <a:pathLst>
              <a:path w="445370" h="445370">
                <a:moveTo>
                  <a:pt x="347075" y="334201"/>
                </a:moveTo>
                <a:cubicBezTo>
                  <a:pt x="327851" y="300799"/>
                  <a:pt x="291752" y="278356"/>
                  <a:pt x="250521" y="278356"/>
                </a:cubicBezTo>
                <a:lnTo>
                  <a:pt x="194849" y="278356"/>
                </a:lnTo>
                <a:cubicBezTo>
                  <a:pt x="153618" y="278356"/>
                  <a:pt x="117518" y="300799"/>
                  <a:pt x="98295" y="334201"/>
                </a:cubicBezTo>
                <a:cubicBezTo>
                  <a:pt x="128914" y="368300"/>
                  <a:pt x="173277" y="389699"/>
                  <a:pt x="222685" y="389699"/>
                </a:cubicBezTo>
                <a:cubicBezTo>
                  <a:pt x="272093" y="389699"/>
                  <a:pt x="316456" y="368213"/>
                  <a:pt x="347075" y="334201"/>
                </a:cubicBezTo>
                <a:close/>
                <a:moveTo>
                  <a:pt x="0" y="222685"/>
                </a:moveTo>
                <a:cubicBezTo>
                  <a:pt x="0" y="99782"/>
                  <a:pt x="99782" y="0"/>
                  <a:pt x="222685" y="0"/>
                </a:cubicBezTo>
                <a:cubicBezTo>
                  <a:pt x="345588" y="0"/>
                  <a:pt x="445370" y="99782"/>
                  <a:pt x="445370" y="222685"/>
                </a:cubicBezTo>
                <a:cubicBezTo>
                  <a:pt x="445370" y="345588"/>
                  <a:pt x="345588" y="445370"/>
                  <a:pt x="222685" y="445370"/>
                </a:cubicBezTo>
                <a:cubicBezTo>
                  <a:pt x="99782" y="445370"/>
                  <a:pt x="0" y="345588"/>
                  <a:pt x="0" y="222685"/>
                </a:cubicBezTo>
                <a:close/>
                <a:moveTo>
                  <a:pt x="222685" y="236603"/>
                </a:moveTo>
                <a:cubicBezTo>
                  <a:pt x="257251" y="236603"/>
                  <a:pt x="285315" y="208539"/>
                  <a:pt x="285315" y="173973"/>
                </a:cubicBezTo>
                <a:cubicBezTo>
                  <a:pt x="285315" y="139406"/>
                  <a:pt x="257251" y="111342"/>
                  <a:pt x="222685" y="111342"/>
                </a:cubicBezTo>
                <a:cubicBezTo>
                  <a:pt x="188118" y="111342"/>
                  <a:pt x="160055" y="139406"/>
                  <a:pt x="160055" y="173973"/>
                </a:cubicBezTo>
                <a:cubicBezTo>
                  <a:pt x="160055" y="208539"/>
                  <a:pt x="188118" y="236603"/>
                  <a:pt x="222685" y="236603"/>
                </a:cubicBezTo>
                <a:close/>
              </a:path>
            </a:pathLst>
          </a:custGeom>
          <a:solidFill>
            <a:srgbClr val="90A1B9"/>
          </a:solidFill>
          <a:ln/>
        </p:spPr>
      </p:sp>
      <p:sp>
        <p:nvSpPr>
          <p:cNvPr id="58" name="Text 56"/>
          <p:cNvSpPr/>
          <p:nvPr/>
        </p:nvSpPr>
        <p:spPr>
          <a:xfrm>
            <a:off x="10285840" y="2531188"/>
            <a:ext cx="658776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amigo5.jpeg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543442" y="2939444"/>
            <a:ext cx="2143342" cy="14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7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Predicción: REAL (99.2%)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571277" y="3124897"/>
            <a:ext cx="2087671" cy="445370"/>
          </a:xfrm>
          <a:custGeom>
            <a:avLst/>
            <a:gdLst/>
            <a:ahLst/>
            <a:cxnLst/>
            <a:rect l="l" t="t" r="r" b="b"/>
            <a:pathLst>
              <a:path w="2087671" h="445370">
                <a:moveTo>
                  <a:pt x="37113" y="0"/>
                </a:moveTo>
                <a:lnTo>
                  <a:pt x="2050559" y="0"/>
                </a:lnTo>
                <a:cubicBezTo>
                  <a:pt x="2071055" y="0"/>
                  <a:pt x="2087671" y="16616"/>
                  <a:pt x="2087671" y="37113"/>
                </a:cubicBezTo>
                <a:lnTo>
                  <a:pt x="2087671" y="408257"/>
                </a:lnTo>
                <a:cubicBezTo>
                  <a:pt x="2087671" y="428754"/>
                  <a:pt x="2071055" y="445370"/>
                  <a:pt x="2050559" y="445370"/>
                </a:cubicBezTo>
                <a:lnTo>
                  <a:pt x="37113" y="445370"/>
                </a:lnTo>
                <a:cubicBezTo>
                  <a:pt x="16616" y="445370"/>
                  <a:pt x="0" y="428754"/>
                  <a:pt x="0" y="408257"/>
                </a:cubicBezTo>
                <a:lnTo>
                  <a:pt x="0" y="37113"/>
                </a:lnTo>
                <a:cubicBezTo>
                  <a:pt x="0" y="16630"/>
                  <a:pt x="16630" y="0"/>
                  <a:pt x="3711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61" name="Text 59"/>
          <p:cNvSpPr/>
          <p:nvPr/>
        </p:nvSpPr>
        <p:spPr>
          <a:xfrm>
            <a:off x="9543442" y="3124897"/>
            <a:ext cx="2143342" cy="445370"/>
          </a:xfrm>
          <a:prstGeom prst="rect">
            <a:avLst/>
          </a:prstGeom>
          <a:noFill/>
          <a:ln/>
        </p:spPr>
        <p:txBody>
          <a:bodyPr wrap="square" lIns="74228" tIns="74228" rIns="74228" bIns="74228" rtlCol="0" anchor="ctr"/>
          <a:lstStyle/>
          <a:p>
            <a:pPr algn="ctr">
              <a:lnSpc>
                <a:spcPct val="110000"/>
              </a:lnSpc>
            </a:pPr>
            <a:r>
              <a:rPr lang="en-US" sz="877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confianza con activación facial bien definida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13195" y="4991044"/>
            <a:ext cx="2187879" cy="861048"/>
          </a:xfrm>
          <a:custGeom>
            <a:avLst/>
            <a:gdLst/>
            <a:ahLst/>
            <a:cxnLst/>
            <a:rect l="l" t="t" r="r" b="b"/>
            <a:pathLst>
              <a:path w="2187879" h="861048">
                <a:moveTo>
                  <a:pt x="111342" y="0"/>
                </a:moveTo>
                <a:lnTo>
                  <a:pt x="2076537" y="0"/>
                </a:lnTo>
                <a:cubicBezTo>
                  <a:pt x="2138030" y="0"/>
                  <a:pt x="2187879" y="49850"/>
                  <a:pt x="2187879" y="111342"/>
                </a:cubicBezTo>
                <a:lnTo>
                  <a:pt x="2187879" y="749706"/>
                </a:lnTo>
                <a:cubicBezTo>
                  <a:pt x="2187879" y="811199"/>
                  <a:pt x="2138030" y="861048"/>
                  <a:pt x="2076537" y="861048"/>
                </a:cubicBezTo>
                <a:lnTo>
                  <a:pt x="111342" y="861048"/>
                </a:lnTo>
                <a:cubicBezTo>
                  <a:pt x="49850" y="861048"/>
                  <a:pt x="0" y="811199"/>
                  <a:pt x="0" y="749706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gradFill rotWithShape="1" flip="none">
            <a:gsLst>
              <a:gs pos="0">
                <a:srgbClr val="FAF5FF"/>
              </a:gs>
              <a:gs pos="100000">
                <a:srgbClr val="FDF2F8"/>
              </a:gs>
            </a:gsLst>
            <a:lin ang="2700000" scaled="1"/>
          </a:gradFill>
          <a:ln w="10160">
            <a:solidFill>
              <a:srgbClr val="E9D4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83920" y="5161767"/>
            <a:ext cx="148457" cy="148457"/>
          </a:xfrm>
          <a:custGeom>
            <a:avLst/>
            <a:gdLst/>
            <a:ahLst/>
            <a:cxnLst/>
            <a:rect l="l" t="t" r="r" b="b"/>
            <a:pathLst>
              <a:path w="148457" h="148457">
                <a:moveTo>
                  <a:pt x="74228" y="148457"/>
                </a:moveTo>
                <a:cubicBezTo>
                  <a:pt x="115196" y="148457"/>
                  <a:pt x="148457" y="115196"/>
                  <a:pt x="148457" y="74228"/>
                </a:cubicBezTo>
                <a:cubicBezTo>
                  <a:pt x="148457" y="33261"/>
                  <a:pt x="115196" y="0"/>
                  <a:pt x="74228" y="0"/>
                </a:cubicBezTo>
                <a:cubicBezTo>
                  <a:pt x="33261" y="0"/>
                  <a:pt x="0" y="33261"/>
                  <a:pt x="0" y="74228"/>
                </a:cubicBezTo>
                <a:cubicBezTo>
                  <a:pt x="0" y="115196"/>
                  <a:pt x="33261" y="148457"/>
                  <a:pt x="74228" y="148457"/>
                </a:cubicBezTo>
                <a:close/>
                <a:moveTo>
                  <a:pt x="98700" y="61673"/>
                </a:moveTo>
                <a:lnTo>
                  <a:pt x="75504" y="98787"/>
                </a:lnTo>
                <a:cubicBezTo>
                  <a:pt x="74286" y="100730"/>
                  <a:pt x="72199" y="101948"/>
                  <a:pt x="69908" y="102064"/>
                </a:cubicBezTo>
                <a:cubicBezTo>
                  <a:pt x="67617" y="102180"/>
                  <a:pt x="65414" y="101136"/>
                  <a:pt x="64051" y="99280"/>
                </a:cubicBezTo>
                <a:lnTo>
                  <a:pt x="50133" y="80723"/>
                </a:lnTo>
                <a:cubicBezTo>
                  <a:pt x="47813" y="77650"/>
                  <a:pt x="48451" y="73300"/>
                  <a:pt x="51525" y="70981"/>
                </a:cubicBezTo>
                <a:cubicBezTo>
                  <a:pt x="54598" y="68661"/>
                  <a:pt x="58948" y="69299"/>
                  <a:pt x="61267" y="72373"/>
                </a:cubicBezTo>
                <a:lnTo>
                  <a:pt x="69096" y="82811"/>
                </a:lnTo>
                <a:lnTo>
                  <a:pt x="86899" y="54308"/>
                </a:lnTo>
                <a:cubicBezTo>
                  <a:pt x="88929" y="51061"/>
                  <a:pt x="93220" y="50046"/>
                  <a:pt x="96497" y="52105"/>
                </a:cubicBezTo>
                <a:cubicBezTo>
                  <a:pt x="99773" y="54163"/>
                  <a:pt x="100759" y="58426"/>
                  <a:pt x="98700" y="61702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64" name="Text 62"/>
          <p:cNvSpPr/>
          <p:nvPr/>
        </p:nvSpPr>
        <p:spPr>
          <a:xfrm>
            <a:off x="5425162" y="5143210"/>
            <a:ext cx="12154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Normal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165363" y="5403009"/>
            <a:ext cx="1939215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Muestra qué ve el modelo para su decisión actual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320071" y="4991044"/>
            <a:ext cx="2187879" cy="861048"/>
          </a:xfrm>
          <a:custGeom>
            <a:avLst/>
            <a:gdLst/>
            <a:ahLst/>
            <a:cxnLst/>
            <a:rect l="l" t="t" r="r" b="b"/>
            <a:pathLst>
              <a:path w="2187879" h="861048">
                <a:moveTo>
                  <a:pt x="111342" y="0"/>
                </a:moveTo>
                <a:lnTo>
                  <a:pt x="2076537" y="0"/>
                </a:lnTo>
                <a:cubicBezTo>
                  <a:pt x="2138030" y="0"/>
                  <a:pt x="2187879" y="49850"/>
                  <a:pt x="2187879" y="111342"/>
                </a:cubicBezTo>
                <a:lnTo>
                  <a:pt x="2187879" y="749706"/>
                </a:lnTo>
                <a:cubicBezTo>
                  <a:pt x="2187879" y="811199"/>
                  <a:pt x="2138030" y="861048"/>
                  <a:pt x="2076537" y="861048"/>
                </a:cubicBezTo>
                <a:lnTo>
                  <a:pt x="111342" y="861048"/>
                </a:lnTo>
                <a:cubicBezTo>
                  <a:pt x="49850" y="861048"/>
                  <a:pt x="0" y="811199"/>
                  <a:pt x="0" y="749706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gradFill rotWithShape="1" flip="none">
            <a:gsLst>
              <a:gs pos="0">
                <a:srgbClr val="F0FDF4"/>
              </a:gs>
              <a:gs pos="100000">
                <a:srgbClr val="F0FDFA"/>
              </a:gs>
            </a:gsLst>
            <a:lin ang="2700000" scaled="1"/>
          </a:gradFill>
          <a:ln w="10160">
            <a:solidFill>
              <a:srgbClr val="B9F8C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72239" y="5161767"/>
            <a:ext cx="185571" cy="148457"/>
          </a:xfrm>
          <a:custGeom>
            <a:avLst/>
            <a:gdLst/>
            <a:ahLst/>
            <a:cxnLst/>
            <a:rect l="l" t="t" r="r" b="b"/>
            <a:pathLst>
              <a:path w="185571" h="148457">
                <a:moveTo>
                  <a:pt x="39434" y="37114"/>
                </a:moveTo>
                <a:cubicBezTo>
                  <a:pt x="39434" y="17911"/>
                  <a:pt x="55025" y="2320"/>
                  <a:pt x="74228" y="2320"/>
                </a:cubicBezTo>
                <a:cubicBezTo>
                  <a:pt x="93432" y="2320"/>
                  <a:pt x="109023" y="17911"/>
                  <a:pt x="109023" y="37114"/>
                </a:cubicBezTo>
                <a:cubicBezTo>
                  <a:pt x="109023" y="56318"/>
                  <a:pt x="93432" y="71909"/>
                  <a:pt x="74228" y="71909"/>
                </a:cubicBezTo>
                <a:cubicBezTo>
                  <a:pt x="55025" y="71909"/>
                  <a:pt x="39434" y="56318"/>
                  <a:pt x="39434" y="37114"/>
                </a:cubicBezTo>
                <a:close/>
                <a:moveTo>
                  <a:pt x="13918" y="139845"/>
                </a:moveTo>
                <a:cubicBezTo>
                  <a:pt x="13918" y="111284"/>
                  <a:pt x="37056" y="88146"/>
                  <a:pt x="65617" y="88146"/>
                </a:cubicBezTo>
                <a:lnTo>
                  <a:pt x="82840" y="88146"/>
                </a:lnTo>
                <a:cubicBezTo>
                  <a:pt x="111400" y="88146"/>
                  <a:pt x="134539" y="111284"/>
                  <a:pt x="134539" y="139845"/>
                </a:cubicBezTo>
                <a:cubicBezTo>
                  <a:pt x="134539" y="144600"/>
                  <a:pt x="130682" y="148457"/>
                  <a:pt x="125927" y="148457"/>
                </a:cubicBezTo>
                <a:lnTo>
                  <a:pt x="22529" y="148457"/>
                </a:lnTo>
                <a:cubicBezTo>
                  <a:pt x="17774" y="148457"/>
                  <a:pt x="13918" y="144600"/>
                  <a:pt x="13918" y="139845"/>
                </a:cubicBezTo>
                <a:close/>
                <a:moveTo>
                  <a:pt x="177568" y="38477"/>
                </a:moveTo>
                <a:lnTo>
                  <a:pt x="154372" y="75591"/>
                </a:lnTo>
                <a:cubicBezTo>
                  <a:pt x="153154" y="77534"/>
                  <a:pt x="151066" y="78752"/>
                  <a:pt x="148776" y="78868"/>
                </a:cubicBezTo>
                <a:cubicBezTo>
                  <a:pt x="146485" y="78984"/>
                  <a:pt x="144281" y="77940"/>
                  <a:pt x="142918" y="76084"/>
                </a:cubicBezTo>
                <a:lnTo>
                  <a:pt x="129001" y="57527"/>
                </a:lnTo>
                <a:cubicBezTo>
                  <a:pt x="126681" y="54453"/>
                  <a:pt x="127319" y="50104"/>
                  <a:pt x="130392" y="47784"/>
                </a:cubicBezTo>
                <a:cubicBezTo>
                  <a:pt x="133466" y="45465"/>
                  <a:pt x="137815" y="46103"/>
                  <a:pt x="140135" y="49176"/>
                </a:cubicBezTo>
                <a:lnTo>
                  <a:pt x="147964" y="59615"/>
                </a:lnTo>
                <a:lnTo>
                  <a:pt x="165767" y="31112"/>
                </a:lnTo>
                <a:cubicBezTo>
                  <a:pt x="167797" y="27865"/>
                  <a:pt x="172088" y="26850"/>
                  <a:pt x="175364" y="28908"/>
                </a:cubicBezTo>
                <a:cubicBezTo>
                  <a:pt x="178641" y="30967"/>
                  <a:pt x="179627" y="35229"/>
                  <a:pt x="177568" y="38506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8" name="Text 66"/>
          <p:cNvSpPr/>
          <p:nvPr/>
        </p:nvSpPr>
        <p:spPr>
          <a:xfrm>
            <a:off x="7732038" y="5143210"/>
            <a:ext cx="9556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Forzado REAL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72239" y="5403009"/>
            <a:ext cx="1939215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que indicarían realidad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626948" y="4991044"/>
            <a:ext cx="2187879" cy="861048"/>
          </a:xfrm>
          <a:custGeom>
            <a:avLst/>
            <a:gdLst/>
            <a:ahLst/>
            <a:cxnLst/>
            <a:rect l="l" t="t" r="r" b="b"/>
            <a:pathLst>
              <a:path w="2187879" h="861048">
                <a:moveTo>
                  <a:pt x="111342" y="0"/>
                </a:moveTo>
                <a:lnTo>
                  <a:pt x="2076537" y="0"/>
                </a:lnTo>
                <a:cubicBezTo>
                  <a:pt x="2138030" y="0"/>
                  <a:pt x="2187879" y="49850"/>
                  <a:pt x="2187879" y="111342"/>
                </a:cubicBezTo>
                <a:lnTo>
                  <a:pt x="2187879" y="749706"/>
                </a:lnTo>
                <a:cubicBezTo>
                  <a:pt x="2187879" y="811199"/>
                  <a:pt x="2138030" y="861048"/>
                  <a:pt x="2076537" y="861048"/>
                </a:cubicBezTo>
                <a:lnTo>
                  <a:pt x="111342" y="861048"/>
                </a:lnTo>
                <a:cubicBezTo>
                  <a:pt x="49850" y="861048"/>
                  <a:pt x="0" y="811199"/>
                  <a:pt x="0" y="749706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2F2"/>
              </a:gs>
              <a:gs pos="100000">
                <a:srgbClr val="FFF7ED"/>
              </a:gs>
            </a:gsLst>
            <a:lin ang="2700000" scaled="1"/>
          </a:gradFill>
          <a:ln w="10160">
            <a:solidFill>
              <a:srgbClr val="FFC9C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79117" y="5161767"/>
            <a:ext cx="185571" cy="148457"/>
          </a:xfrm>
          <a:custGeom>
            <a:avLst/>
            <a:gdLst/>
            <a:ahLst/>
            <a:cxnLst/>
            <a:rect l="l" t="t" r="r" b="b"/>
            <a:pathLst>
              <a:path w="185571" h="148457">
                <a:moveTo>
                  <a:pt x="39550" y="37114"/>
                </a:moveTo>
                <a:cubicBezTo>
                  <a:pt x="39550" y="24683"/>
                  <a:pt x="46182" y="13197"/>
                  <a:pt x="56947" y="6981"/>
                </a:cubicBezTo>
                <a:cubicBezTo>
                  <a:pt x="67712" y="766"/>
                  <a:pt x="80976" y="766"/>
                  <a:pt x="91742" y="6981"/>
                </a:cubicBezTo>
                <a:cubicBezTo>
                  <a:pt x="102507" y="13197"/>
                  <a:pt x="109139" y="24683"/>
                  <a:pt x="109139" y="37114"/>
                </a:cubicBezTo>
                <a:cubicBezTo>
                  <a:pt x="109139" y="56318"/>
                  <a:pt x="93548" y="71909"/>
                  <a:pt x="74344" y="71909"/>
                </a:cubicBezTo>
                <a:cubicBezTo>
                  <a:pt x="55141" y="71909"/>
                  <a:pt x="39550" y="56318"/>
                  <a:pt x="39550" y="37114"/>
                </a:cubicBezTo>
                <a:close/>
                <a:moveTo>
                  <a:pt x="14034" y="139845"/>
                </a:moveTo>
                <a:cubicBezTo>
                  <a:pt x="14034" y="111284"/>
                  <a:pt x="37172" y="88146"/>
                  <a:pt x="65733" y="88146"/>
                </a:cubicBezTo>
                <a:lnTo>
                  <a:pt x="82956" y="88146"/>
                </a:lnTo>
                <a:cubicBezTo>
                  <a:pt x="111516" y="88146"/>
                  <a:pt x="134655" y="111284"/>
                  <a:pt x="134655" y="139845"/>
                </a:cubicBezTo>
                <a:cubicBezTo>
                  <a:pt x="134655" y="144600"/>
                  <a:pt x="130798" y="148457"/>
                  <a:pt x="126043" y="148457"/>
                </a:cubicBezTo>
                <a:lnTo>
                  <a:pt x="22645" y="148457"/>
                </a:lnTo>
                <a:cubicBezTo>
                  <a:pt x="17890" y="148457"/>
                  <a:pt x="14034" y="144600"/>
                  <a:pt x="14034" y="139845"/>
                </a:cubicBezTo>
                <a:close/>
                <a:moveTo>
                  <a:pt x="177539" y="35983"/>
                </a:moveTo>
                <a:cubicBezTo>
                  <a:pt x="180265" y="38709"/>
                  <a:pt x="180265" y="43116"/>
                  <a:pt x="177539" y="45813"/>
                </a:cubicBezTo>
                <a:lnTo>
                  <a:pt x="167710" y="55642"/>
                </a:lnTo>
                <a:lnTo>
                  <a:pt x="177539" y="65472"/>
                </a:lnTo>
                <a:cubicBezTo>
                  <a:pt x="180265" y="68197"/>
                  <a:pt x="180265" y="72605"/>
                  <a:pt x="177539" y="75301"/>
                </a:cubicBezTo>
                <a:cubicBezTo>
                  <a:pt x="174813" y="77998"/>
                  <a:pt x="170406" y="78027"/>
                  <a:pt x="167710" y="75301"/>
                </a:cubicBezTo>
                <a:lnTo>
                  <a:pt x="157880" y="65472"/>
                </a:lnTo>
                <a:lnTo>
                  <a:pt x="148051" y="75301"/>
                </a:lnTo>
                <a:cubicBezTo>
                  <a:pt x="145325" y="78027"/>
                  <a:pt x="140918" y="78027"/>
                  <a:pt x="138221" y="75301"/>
                </a:cubicBezTo>
                <a:cubicBezTo>
                  <a:pt x="135525" y="72576"/>
                  <a:pt x="135496" y="68168"/>
                  <a:pt x="138221" y="65472"/>
                </a:cubicBezTo>
                <a:lnTo>
                  <a:pt x="148051" y="55642"/>
                </a:lnTo>
                <a:lnTo>
                  <a:pt x="138221" y="45813"/>
                </a:lnTo>
                <a:cubicBezTo>
                  <a:pt x="135496" y="43087"/>
                  <a:pt x="135496" y="38680"/>
                  <a:pt x="138221" y="35983"/>
                </a:cubicBezTo>
                <a:cubicBezTo>
                  <a:pt x="140947" y="33287"/>
                  <a:pt x="145354" y="33258"/>
                  <a:pt x="148051" y="35983"/>
                </a:cubicBezTo>
                <a:lnTo>
                  <a:pt x="157880" y="45813"/>
                </a:lnTo>
                <a:lnTo>
                  <a:pt x="167710" y="35983"/>
                </a:lnTo>
                <a:cubicBezTo>
                  <a:pt x="170435" y="33258"/>
                  <a:pt x="174842" y="33258"/>
                  <a:pt x="177539" y="3598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72" name="Text 70"/>
          <p:cNvSpPr/>
          <p:nvPr/>
        </p:nvSpPr>
        <p:spPr>
          <a:xfrm>
            <a:off x="10038916" y="5143210"/>
            <a:ext cx="955689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Forzado FAKE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779117" y="5403009"/>
            <a:ext cx="1939215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7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que sugerirían manipulación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009483" y="5966911"/>
            <a:ext cx="6810447" cy="890740"/>
          </a:xfrm>
          <a:custGeom>
            <a:avLst/>
            <a:gdLst/>
            <a:ahLst/>
            <a:cxnLst/>
            <a:rect l="l" t="t" r="r" b="b"/>
            <a:pathLst>
              <a:path w="6810447" h="890740">
                <a:moveTo>
                  <a:pt x="111342" y="0"/>
                </a:moveTo>
                <a:lnTo>
                  <a:pt x="6699105" y="0"/>
                </a:lnTo>
                <a:cubicBezTo>
                  <a:pt x="6760598" y="0"/>
                  <a:pt x="6810447" y="49850"/>
                  <a:pt x="6810447" y="111342"/>
                </a:cubicBezTo>
                <a:lnTo>
                  <a:pt x="6810447" y="779397"/>
                </a:lnTo>
                <a:cubicBezTo>
                  <a:pt x="6810447" y="840890"/>
                  <a:pt x="6760598" y="890740"/>
                  <a:pt x="6699105" y="890740"/>
                </a:cubicBezTo>
                <a:lnTo>
                  <a:pt x="111342" y="890740"/>
                </a:lnTo>
                <a:cubicBezTo>
                  <a:pt x="49850" y="890740"/>
                  <a:pt x="0" y="840890"/>
                  <a:pt x="0" y="779397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gradFill rotWithShape="1" flip="none">
            <a:gsLst>
              <a:gs pos="0">
                <a:srgbClr val="4F39F6"/>
              </a:gs>
              <a:gs pos="100000">
                <a:srgbClr val="9810FA"/>
              </a:gs>
            </a:gsLst>
            <a:lin ang="0" scaled="1"/>
          </a:gradFill>
          <a:ln/>
        </p:spPr>
      </p:sp>
      <p:sp>
        <p:nvSpPr>
          <p:cNvPr id="75" name="Shape 73"/>
          <p:cNvSpPr/>
          <p:nvPr/>
        </p:nvSpPr>
        <p:spPr>
          <a:xfrm>
            <a:off x="5171858" y="6300939"/>
            <a:ext cx="167014" cy="222685"/>
          </a:xfrm>
          <a:custGeom>
            <a:avLst/>
            <a:gdLst/>
            <a:ahLst/>
            <a:cxnLst/>
            <a:rect l="l" t="t" r="r" b="b"/>
            <a:pathLst>
              <a:path w="167014" h="222685">
                <a:moveTo>
                  <a:pt x="127391" y="167014"/>
                </a:moveTo>
                <a:cubicBezTo>
                  <a:pt x="130566" y="157315"/>
                  <a:pt x="136916" y="148529"/>
                  <a:pt x="144093" y="140961"/>
                </a:cubicBezTo>
                <a:cubicBezTo>
                  <a:pt x="158315" y="126000"/>
                  <a:pt x="167014" y="105775"/>
                  <a:pt x="167014" y="83507"/>
                </a:cubicBezTo>
                <a:cubicBezTo>
                  <a:pt x="167014" y="37404"/>
                  <a:pt x="129610" y="0"/>
                  <a:pt x="83507" y="0"/>
                </a:cubicBezTo>
                <a:cubicBezTo>
                  <a:pt x="37404" y="0"/>
                  <a:pt x="0" y="37404"/>
                  <a:pt x="0" y="83507"/>
                </a:cubicBezTo>
                <a:cubicBezTo>
                  <a:pt x="0" y="105775"/>
                  <a:pt x="8699" y="126000"/>
                  <a:pt x="22921" y="140961"/>
                </a:cubicBezTo>
                <a:cubicBezTo>
                  <a:pt x="30097" y="148529"/>
                  <a:pt x="36491" y="157315"/>
                  <a:pt x="39622" y="167014"/>
                </a:cubicBezTo>
                <a:lnTo>
                  <a:pt x="127348" y="167014"/>
                </a:lnTo>
                <a:close/>
                <a:moveTo>
                  <a:pt x="125260" y="187890"/>
                </a:moveTo>
                <a:lnTo>
                  <a:pt x="41753" y="187890"/>
                </a:lnTo>
                <a:lnTo>
                  <a:pt x="41753" y="194849"/>
                </a:lnTo>
                <a:cubicBezTo>
                  <a:pt x="41753" y="214073"/>
                  <a:pt x="57324" y="229644"/>
                  <a:pt x="76548" y="229644"/>
                </a:cubicBezTo>
                <a:lnTo>
                  <a:pt x="90466" y="229644"/>
                </a:lnTo>
                <a:cubicBezTo>
                  <a:pt x="109690" y="229644"/>
                  <a:pt x="125260" y="214073"/>
                  <a:pt x="125260" y="194849"/>
                </a:cubicBezTo>
                <a:lnTo>
                  <a:pt x="125260" y="187890"/>
                </a:lnTo>
                <a:close/>
                <a:moveTo>
                  <a:pt x="80027" y="48712"/>
                </a:moveTo>
                <a:cubicBezTo>
                  <a:pt x="62717" y="48712"/>
                  <a:pt x="48712" y="62717"/>
                  <a:pt x="48712" y="80027"/>
                </a:cubicBezTo>
                <a:cubicBezTo>
                  <a:pt x="48712" y="85812"/>
                  <a:pt x="44059" y="90466"/>
                  <a:pt x="38274" y="90466"/>
                </a:cubicBezTo>
                <a:cubicBezTo>
                  <a:pt x="32489" y="90466"/>
                  <a:pt x="27836" y="85812"/>
                  <a:pt x="27836" y="80027"/>
                </a:cubicBezTo>
                <a:cubicBezTo>
                  <a:pt x="27836" y="51191"/>
                  <a:pt x="51191" y="27836"/>
                  <a:pt x="80027" y="27836"/>
                </a:cubicBezTo>
                <a:cubicBezTo>
                  <a:pt x="85812" y="27836"/>
                  <a:pt x="90466" y="32489"/>
                  <a:pt x="90466" y="38274"/>
                </a:cubicBezTo>
                <a:cubicBezTo>
                  <a:pt x="90466" y="44059"/>
                  <a:pt x="85812" y="48712"/>
                  <a:pt x="80027" y="48712"/>
                </a:cubicBezTo>
                <a:close/>
              </a:path>
            </a:pathLst>
          </a:custGeom>
          <a:solidFill>
            <a:srgbClr val="FFDF20"/>
          </a:solidFill>
          <a:ln/>
        </p:spPr>
      </p:sp>
      <p:sp>
        <p:nvSpPr>
          <p:cNvPr id="76" name="Text 74"/>
          <p:cNvSpPr/>
          <p:nvPr/>
        </p:nvSpPr>
        <p:spPr>
          <a:xfrm>
            <a:off x="5465871" y="6115368"/>
            <a:ext cx="6281571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Consultoría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465871" y="6338053"/>
            <a:ext cx="6272292" cy="37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E0E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Grad-CAM permite auditar decisiones, detectar sesgos potenciales y aumentar la confianza del cliente al hacer transparente el razonamiento del modelo</a:t>
            </a:r>
            <a:endParaRPr lang="en-US" sz="1600" dirty="0"/>
          </a:p>
        </p:txBody>
      </p:sp>
      <p:pic>
        <p:nvPicPr>
          <p:cNvPr id="78" name="Image 0" descr="https://kimi-img.moonshot.cn/pub/slides/26-03-25-01:54:10-d71cvgj3kdlvp3gdb6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1655" y="1826019"/>
            <a:ext cx="1683644" cy="965139"/>
          </a:xfrm>
          <a:prstGeom prst="rect">
            <a:avLst/>
          </a:prstGeom>
        </p:spPr>
      </p:pic>
      <p:pic>
        <p:nvPicPr>
          <p:cNvPr id="79" name="Image 1" descr="https://kimi-img.moonshot.cn/pub/slides/26-03-25-01:54:38-d71cvnj3kdlvp3gdb8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529" y="1826019"/>
            <a:ext cx="1122644" cy="1025067"/>
          </a:xfrm>
          <a:prstGeom prst="rect">
            <a:avLst/>
          </a:prstGeom>
        </p:spPr>
      </p:pic>
      <p:pic>
        <p:nvPicPr>
          <p:cNvPr id="80" name="Image 2" descr="https://kimi-img.moonshot.cn/pub/slides/26-03-25-01:55:17-d71d01e0ftluu4hiqu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720" y="1717255"/>
            <a:ext cx="1680528" cy="103403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730375" cy="285750"/>
          </a:xfrm>
          <a:custGeom>
            <a:avLst/>
            <a:gdLst/>
            <a:ahLst/>
            <a:cxnLst/>
            <a:rect l="l" t="t" r="r" b="b"/>
            <a:pathLst>
              <a:path w="1730375" h="285750">
                <a:moveTo>
                  <a:pt x="142875" y="0"/>
                </a:moveTo>
                <a:lnTo>
                  <a:pt x="1587500" y="0"/>
                </a:lnTo>
                <a:cubicBezTo>
                  <a:pt x="1666355" y="0"/>
                  <a:pt x="1730375" y="64020"/>
                  <a:pt x="1730375" y="142875"/>
                </a:cubicBezTo>
                <a:lnTo>
                  <a:pt x="1730375" y="142875"/>
                </a:lnTo>
                <a:cubicBezTo>
                  <a:pt x="1730375" y="221730"/>
                  <a:pt x="1666355" y="285750"/>
                  <a:pt x="1587500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" name="Shape 1"/>
          <p:cNvSpPr/>
          <p:nvPr/>
        </p:nvSpPr>
        <p:spPr>
          <a:xfrm>
            <a:off x="460375" y="396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" name="Text 2"/>
          <p:cNvSpPr/>
          <p:nvPr/>
        </p:nvSpPr>
        <p:spPr>
          <a:xfrm>
            <a:off x="666750" y="381000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MLOPS &amp; DESPLIEGUE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98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F17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 Jupyter Notebook a Producción: FastAPI + Docker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46175"/>
            <a:ext cx="5689600" cy="2197100"/>
          </a:xfrm>
          <a:custGeom>
            <a:avLst/>
            <a:gdLst/>
            <a:ahLst/>
            <a:cxnLst/>
            <a:rect l="l" t="t" r="r" b="b"/>
            <a:pathLst>
              <a:path w="5689600" h="2197100">
                <a:moveTo>
                  <a:pt x="95244" y="0"/>
                </a:moveTo>
                <a:lnTo>
                  <a:pt x="5594356" y="0"/>
                </a:lnTo>
                <a:cubicBezTo>
                  <a:pt x="5646922" y="0"/>
                  <a:pt x="5689600" y="42678"/>
                  <a:pt x="5689600" y="95244"/>
                </a:cubicBezTo>
                <a:lnTo>
                  <a:pt x="5689600" y="2101856"/>
                </a:lnTo>
                <a:cubicBezTo>
                  <a:pt x="5689600" y="2154422"/>
                  <a:pt x="5646922" y="2197100"/>
                  <a:pt x="5594356" y="2197100"/>
                </a:cubicBezTo>
                <a:lnTo>
                  <a:pt x="95244" y="2197100"/>
                </a:lnTo>
                <a:cubicBezTo>
                  <a:pt x="42678" y="2197100"/>
                  <a:pt x="0" y="2154422"/>
                  <a:pt x="0" y="2101856"/>
                </a:cubicBezTo>
                <a:lnTo>
                  <a:pt x="0" y="95244"/>
                </a:lnTo>
                <a:cubicBezTo>
                  <a:pt x="0" y="42678"/>
                  <a:pt x="42678" y="0"/>
                  <a:pt x="9524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6412" y="1339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8" name="Text 6"/>
          <p:cNvSpPr/>
          <p:nvPr/>
        </p:nvSpPr>
        <p:spPr>
          <a:xfrm>
            <a:off x="641350" y="1308102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 la API REST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" y="1625602"/>
            <a:ext cx="5365750" cy="476250"/>
          </a:xfrm>
          <a:custGeom>
            <a:avLst/>
            <a:gdLst/>
            <a:ahLst/>
            <a:cxnLst/>
            <a:rect l="l" t="t" r="r" b="b"/>
            <a:pathLst>
              <a:path w="5365750" h="476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412752"/>
                </a:lnTo>
                <a:cubicBezTo>
                  <a:pt x="5365750" y="447821"/>
                  <a:pt x="5337321" y="476250"/>
                  <a:pt x="5302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" y="1768477"/>
            <a:ext cx="325438" cy="190500"/>
          </a:xfrm>
          <a:custGeom>
            <a:avLst/>
            <a:gdLst/>
            <a:ahLst/>
            <a:cxnLst/>
            <a:rect l="l" t="t" r="r" b="b"/>
            <a:pathLst>
              <a:path w="325438" h="190500">
                <a:moveTo>
                  <a:pt x="31751" y="0"/>
                </a:moveTo>
                <a:lnTo>
                  <a:pt x="293687" y="0"/>
                </a:lnTo>
                <a:cubicBezTo>
                  <a:pt x="311222" y="0"/>
                  <a:pt x="325438" y="14215"/>
                  <a:pt x="325438" y="31751"/>
                </a:cubicBezTo>
                <a:lnTo>
                  <a:pt x="325438" y="158749"/>
                </a:lnTo>
                <a:cubicBezTo>
                  <a:pt x="325438" y="176285"/>
                  <a:pt x="311222" y="190500"/>
                  <a:pt x="2936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" y="1768477"/>
            <a:ext cx="3730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958" y="1720852"/>
            <a:ext cx="481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/health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5958" y="1879602"/>
            <a:ext cx="481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 check del servicio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2165252"/>
            <a:ext cx="5365750" cy="476250"/>
          </a:xfrm>
          <a:custGeom>
            <a:avLst/>
            <a:gdLst/>
            <a:ahLst/>
            <a:cxnLst/>
            <a:rect l="l" t="t" r="r" b="b"/>
            <a:pathLst>
              <a:path w="5365750" h="476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412752"/>
                </a:lnTo>
                <a:cubicBezTo>
                  <a:pt x="5365750" y="447821"/>
                  <a:pt x="5337321" y="476250"/>
                  <a:pt x="5302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77850" y="2308127"/>
            <a:ext cx="388938" cy="190500"/>
          </a:xfrm>
          <a:custGeom>
            <a:avLst/>
            <a:gdLst/>
            <a:ahLst/>
            <a:cxnLst/>
            <a:rect l="l" t="t" r="r" b="b"/>
            <a:pathLst>
              <a:path w="388938" h="190500">
                <a:moveTo>
                  <a:pt x="31751" y="0"/>
                </a:moveTo>
                <a:lnTo>
                  <a:pt x="357187" y="0"/>
                </a:lnTo>
                <a:cubicBezTo>
                  <a:pt x="374722" y="0"/>
                  <a:pt x="388938" y="14215"/>
                  <a:pt x="388938" y="31751"/>
                </a:cubicBezTo>
                <a:lnTo>
                  <a:pt x="388938" y="158749"/>
                </a:lnTo>
                <a:cubicBezTo>
                  <a:pt x="388938" y="176285"/>
                  <a:pt x="374722" y="190500"/>
                  <a:pt x="357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7850" y="2308127"/>
            <a:ext cx="436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9458" y="2260502"/>
            <a:ext cx="475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/predict/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9458" y="2419252"/>
            <a:ext cx="4746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Recibe imagen, retorna predicción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2600" y="2704901"/>
            <a:ext cx="5365750" cy="476250"/>
          </a:xfrm>
          <a:custGeom>
            <a:avLst/>
            <a:gdLst/>
            <a:ahLst/>
            <a:cxnLst/>
            <a:rect l="l" t="t" r="r" b="b"/>
            <a:pathLst>
              <a:path w="5365750" h="476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412752"/>
                </a:lnTo>
                <a:cubicBezTo>
                  <a:pt x="5365750" y="447821"/>
                  <a:pt x="5337321" y="476250"/>
                  <a:pt x="530225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77850" y="2847776"/>
            <a:ext cx="325438" cy="190500"/>
          </a:xfrm>
          <a:custGeom>
            <a:avLst/>
            <a:gdLst/>
            <a:ahLst/>
            <a:cxnLst/>
            <a:rect l="l" t="t" r="r" b="b"/>
            <a:pathLst>
              <a:path w="325438" h="190500">
                <a:moveTo>
                  <a:pt x="31751" y="0"/>
                </a:moveTo>
                <a:lnTo>
                  <a:pt x="293687" y="0"/>
                </a:lnTo>
                <a:cubicBezTo>
                  <a:pt x="311222" y="0"/>
                  <a:pt x="325438" y="14215"/>
                  <a:pt x="325438" y="31751"/>
                </a:cubicBezTo>
                <a:lnTo>
                  <a:pt x="325438" y="158749"/>
                </a:lnTo>
                <a:cubicBezTo>
                  <a:pt x="325438" y="176285"/>
                  <a:pt x="311222" y="190500"/>
                  <a:pt x="2936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7850" y="2847776"/>
            <a:ext cx="3730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5958" y="2800151"/>
            <a:ext cx="481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/docs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5958" y="2958901"/>
            <a:ext cx="481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 interactivo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3473152"/>
            <a:ext cx="5699125" cy="2667000"/>
          </a:xfrm>
          <a:custGeom>
            <a:avLst/>
            <a:gdLst/>
            <a:ahLst/>
            <a:cxnLst/>
            <a:rect l="l" t="t" r="r" b="b"/>
            <a:pathLst>
              <a:path w="5699125" h="2667000">
                <a:moveTo>
                  <a:pt x="95239" y="0"/>
                </a:moveTo>
                <a:lnTo>
                  <a:pt x="5603886" y="0"/>
                </a:lnTo>
                <a:cubicBezTo>
                  <a:pt x="5656485" y="0"/>
                  <a:pt x="5699125" y="42640"/>
                  <a:pt x="5699125" y="95239"/>
                </a:cubicBezTo>
                <a:lnTo>
                  <a:pt x="5699125" y="2571761"/>
                </a:lnTo>
                <a:cubicBezTo>
                  <a:pt x="5699125" y="2624360"/>
                  <a:pt x="5656485" y="2667000"/>
                  <a:pt x="5603886" y="2667000"/>
                </a:cubicBezTo>
                <a:lnTo>
                  <a:pt x="95239" y="2667000"/>
                </a:lnTo>
                <a:cubicBezTo>
                  <a:pt x="42675" y="2667000"/>
                  <a:pt x="0" y="2624325"/>
                  <a:pt x="0" y="2571761"/>
                </a:cubicBezTo>
                <a:lnTo>
                  <a:pt x="0" y="95239"/>
                </a:lnTo>
                <a:cubicBezTo>
                  <a:pt x="0" y="42675"/>
                  <a:pt x="42675" y="0"/>
                  <a:pt x="95239" y="0"/>
                </a:cubicBezTo>
                <a:close/>
              </a:path>
            </a:pathLst>
          </a:custGeom>
          <a:gradFill rotWithShape="1" flip="none">
            <a:gsLst>
              <a:gs pos="0">
                <a:srgbClr val="1D293D"/>
              </a:gs>
              <a:gs pos="100000">
                <a:srgbClr val="0F172B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484187" y="366365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000" y="3631902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de Request/Response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6250" y="3917652"/>
            <a:ext cx="5381625" cy="2063750"/>
          </a:xfrm>
          <a:custGeom>
            <a:avLst/>
            <a:gdLst/>
            <a:ahLst/>
            <a:cxnLst/>
            <a:rect l="l" t="t" r="r" b="b"/>
            <a:pathLst>
              <a:path w="5381625" h="2063750">
                <a:moveTo>
                  <a:pt x="63502" y="0"/>
                </a:moveTo>
                <a:lnTo>
                  <a:pt x="5318123" y="0"/>
                </a:lnTo>
                <a:cubicBezTo>
                  <a:pt x="5353194" y="0"/>
                  <a:pt x="5381625" y="28431"/>
                  <a:pt x="5381625" y="63502"/>
                </a:cubicBezTo>
                <a:lnTo>
                  <a:pt x="5381625" y="2000248"/>
                </a:lnTo>
                <a:cubicBezTo>
                  <a:pt x="5381625" y="2035319"/>
                  <a:pt x="5353194" y="2063750"/>
                  <a:pt x="5318123" y="2063750"/>
                </a:cubicBezTo>
                <a:lnTo>
                  <a:pt x="63502" y="2063750"/>
                </a:lnTo>
                <a:cubicBezTo>
                  <a:pt x="28431" y="2063750"/>
                  <a:pt x="0" y="2035319"/>
                  <a:pt x="0" y="2000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206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" y="4012902"/>
            <a:ext cx="523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Request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4203305"/>
            <a:ext cx="523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curl -X POST "http://localhost:8000/predict/" \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8500" y="4330205"/>
            <a:ext cx="511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-F "file=@imagen.jpg"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4552354"/>
            <a:ext cx="523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Response JSON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" y="4742757"/>
            <a:ext cx="523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000" y="4869656"/>
            <a:ext cx="517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"prediction": "real",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000" y="4996559"/>
            <a:ext cx="517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"confidence": 0.9234,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000" y="5123459"/>
            <a:ext cx="517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"probabilities": {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8500" y="5250358"/>
            <a:ext cx="511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"real": 0.9234,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8500" y="5377261"/>
            <a:ext cx="511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"fake": 0.0766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" y="5504160"/>
            <a:ext cx="517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000" y="5631063"/>
            <a:ext cx="517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"model": "resnet18_ffpp"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5757962"/>
            <a:ext cx="5238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8550" y="1146175"/>
            <a:ext cx="5689600" cy="2101850"/>
          </a:xfrm>
          <a:custGeom>
            <a:avLst/>
            <a:gdLst/>
            <a:ahLst/>
            <a:cxnLst/>
            <a:rect l="l" t="t" r="r" b="b"/>
            <a:pathLst>
              <a:path w="5689600" h="2101850">
                <a:moveTo>
                  <a:pt x="95256" y="0"/>
                </a:moveTo>
                <a:lnTo>
                  <a:pt x="5594344" y="0"/>
                </a:lnTo>
                <a:cubicBezTo>
                  <a:pt x="5646953" y="0"/>
                  <a:pt x="5689600" y="42647"/>
                  <a:pt x="5689600" y="95256"/>
                </a:cubicBezTo>
                <a:lnTo>
                  <a:pt x="5689600" y="2006594"/>
                </a:lnTo>
                <a:cubicBezTo>
                  <a:pt x="5689600" y="2059203"/>
                  <a:pt x="5646953" y="2101850"/>
                  <a:pt x="5594344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40475" y="1323977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8490" y="73267"/>
                </a:moveTo>
                <a:lnTo>
                  <a:pt x="87995" y="73267"/>
                </a:lnTo>
                <a:lnTo>
                  <a:pt x="87995" y="54849"/>
                </a:lnTo>
                <a:lnTo>
                  <a:pt x="108490" y="54849"/>
                </a:lnTo>
                <a:lnTo>
                  <a:pt x="108490" y="73267"/>
                </a:lnTo>
                <a:close/>
                <a:moveTo>
                  <a:pt x="108490" y="9922"/>
                </a:moveTo>
                <a:lnTo>
                  <a:pt x="87995" y="9922"/>
                </a:lnTo>
                <a:lnTo>
                  <a:pt x="87995" y="28742"/>
                </a:lnTo>
                <a:lnTo>
                  <a:pt x="108490" y="28742"/>
                </a:lnTo>
                <a:lnTo>
                  <a:pt x="108490" y="9922"/>
                </a:lnTo>
                <a:close/>
                <a:moveTo>
                  <a:pt x="132736" y="54818"/>
                </a:moveTo>
                <a:lnTo>
                  <a:pt x="112241" y="54818"/>
                </a:lnTo>
                <a:lnTo>
                  <a:pt x="112241" y="73236"/>
                </a:lnTo>
                <a:lnTo>
                  <a:pt x="132736" y="73236"/>
                </a:lnTo>
                <a:lnTo>
                  <a:pt x="132736" y="54818"/>
                </a:lnTo>
                <a:close/>
                <a:moveTo>
                  <a:pt x="84274" y="32463"/>
                </a:moveTo>
                <a:lnTo>
                  <a:pt x="63779" y="32463"/>
                </a:lnTo>
                <a:lnTo>
                  <a:pt x="63779" y="51098"/>
                </a:lnTo>
                <a:lnTo>
                  <a:pt x="84274" y="51098"/>
                </a:lnTo>
                <a:lnTo>
                  <a:pt x="84274" y="32463"/>
                </a:lnTo>
                <a:close/>
                <a:moveTo>
                  <a:pt x="108490" y="32463"/>
                </a:moveTo>
                <a:lnTo>
                  <a:pt x="87995" y="32463"/>
                </a:lnTo>
                <a:lnTo>
                  <a:pt x="87995" y="51098"/>
                </a:lnTo>
                <a:lnTo>
                  <a:pt x="108490" y="51098"/>
                </a:lnTo>
                <a:lnTo>
                  <a:pt x="108490" y="32463"/>
                </a:lnTo>
                <a:close/>
                <a:moveTo>
                  <a:pt x="194314" y="63469"/>
                </a:moveTo>
                <a:cubicBezTo>
                  <a:pt x="189849" y="60461"/>
                  <a:pt x="179555" y="59376"/>
                  <a:pt x="171648" y="60865"/>
                </a:cubicBezTo>
                <a:cubicBezTo>
                  <a:pt x="170625" y="53423"/>
                  <a:pt x="166470" y="46943"/>
                  <a:pt x="158905" y="41114"/>
                </a:cubicBezTo>
                <a:lnTo>
                  <a:pt x="154564" y="38230"/>
                </a:lnTo>
                <a:lnTo>
                  <a:pt x="151681" y="42571"/>
                </a:lnTo>
                <a:cubicBezTo>
                  <a:pt x="145976" y="51191"/>
                  <a:pt x="144425" y="65391"/>
                  <a:pt x="150533" y="74755"/>
                </a:cubicBezTo>
                <a:cubicBezTo>
                  <a:pt x="147836" y="76212"/>
                  <a:pt x="142534" y="78197"/>
                  <a:pt x="135527" y="78073"/>
                </a:cubicBezTo>
                <a:lnTo>
                  <a:pt x="744" y="78073"/>
                </a:lnTo>
                <a:cubicBezTo>
                  <a:pt x="-1953" y="93824"/>
                  <a:pt x="2542" y="114288"/>
                  <a:pt x="14387" y="128333"/>
                </a:cubicBezTo>
                <a:cubicBezTo>
                  <a:pt x="25890" y="141945"/>
                  <a:pt x="43129" y="148859"/>
                  <a:pt x="65670" y="148859"/>
                </a:cubicBezTo>
                <a:cubicBezTo>
                  <a:pt x="114474" y="148859"/>
                  <a:pt x="150595" y="126380"/>
                  <a:pt x="167494" y="85545"/>
                </a:cubicBezTo>
                <a:cubicBezTo>
                  <a:pt x="174129" y="85669"/>
                  <a:pt x="188454" y="85576"/>
                  <a:pt x="195802" y="71531"/>
                </a:cubicBezTo>
                <a:cubicBezTo>
                  <a:pt x="196267" y="70755"/>
                  <a:pt x="197848" y="67438"/>
                  <a:pt x="198438" y="66229"/>
                </a:cubicBezTo>
                <a:lnTo>
                  <a:pt x="194314" y="63469"/>
                </a:lnTo>
                <a:close/>
                <a:moveTo>
                  <a:pt x="35843" y="54818"/>
                </a:moveTo>
                <a:lnTo>
                  <a:pt x="15379" y="54818"/>
                </a:lnTo>
                <a:lnTo>
                  <a:pt x="15379" y="73236"/>
                </a:lnTo>
                <a:lnTo>
                  <a:pt x="35874" y="73236"/>
                </a:lnTo>
                <a:lnTo>
                  <a:pt x="35874" y="54818"/>
                </a:lnTo>
                <a:lnTo>
                  <a:pt x="35843" y="54818"/>
                </a:lnTo>
                <a:close/>
                <a:moveTo>
                  <a:pt x="60058" y="54818"/>
                </a:moveTo>
                <a:lnTo>
                  <a:pt x="39563" y="54818"/>
                </a:lnTo>
                <a:lnTo>
                  <a:pt x="39563" y="73236"/>
                </a:lnTo>
                <a:lnTo>
                  <a:pt x="60058" y="73236"/>
                </a:lnTo>
                <a:lnTo>
                  <a:pt x="60058" y="54818"/>
                </a:lnTo>
                <a:close/>
                <a:moveTo>
                  <a:pt x="84274" y="54818"/>
                </a:moveTo>
                <a:lnTo>
                  <a:pt x="63779" y="54818"/>
                </a:lnTo>
                <a:lnTo>
                  <a:pt x="63779" y="73236"/>
                </a:lnTo>
                <a:lnTo>
                  <a:pt x="84274" y="73236"/>
                </a:lnTo>
                <a:lnTo>
                  <a:pt x="84274" y="54818"/>
                </a:lnTo>
                <a:close/>
                <a:moveTo>
                  <a:pt x="60058" y="32463"/>
                </a:moveTo>
                <a:lnTo>
                  <a:pt x="39563" y="32463"/>
                </a:lnTo>
                <a:lnTo>
                  <a:pt x="39563" y="51098"/>
                </a:lnTo>
                <a:lnTo>
                  <a:pt x="60058" y="51098"/>
                </a:lnTo>
                <a:lnTo>
                  <a:pt x="60058" y="32463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43" name="Text 41"/>
          <p:cNvSpPr/>
          <p:nvPr/>
        </p:nvSpPr>
        <p:spPr>
          <a:xfrm>
            <a:off x="6538912" y="1308102"/>
            <a:ext cx="523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Containerización con Docker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6350" y="165735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5" name="Text 43"/>
          <p:cNvSpPr/>
          <p:nvPr/>
        </p:nvSpPr>
        <p:spPr>
          <a:xfrm>
            <a:off x="6542881" y="1625602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 base optimizada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42881" y="1784352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python:3.11-slim (~1.5GB final vs 2GB+ con CUDA)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6350" y="203835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8" name="Text 46"/>
          <p:cNvSpPr/>
          <p:nvPr/>
        </p:nvSpPr>
        <p:spPr>
          <a:xfrm>
            <a:off x="6542881" y="2006602"/>
            <a:ext cx="234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 CPU-only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23162" y="2085975"/>
            <a:ext cx="234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tamaño para inferencia eficiente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6350" y="241935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1" name="Text 49"/>
          <p:cNvSpPr/>
          <p:nvPr/>
        </p:nvSpPr>
        <p:spPr>
          <a:xfrm>
            <a:off x="6538912" y="2403377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 checks automáticos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39100" y="2562127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Verificación cada 30s de disponibilidad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6350" y="280035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4" name="Text 52"/>
          <p:cNvSpPr/>
          <p:nvPr/>
        </p:nvSpPr>
        <p:spPr>
          <a:xfrm>
            <a:off x="6538912" y="2784276"/>
            <a:ext cx="285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.dockerignore optimizado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2881" y="2927352"/>
            <a:ext cx="285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de 10GB → 100MB (excluye datasets grandes)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8550" y="3381376"/>
            <a:ext cx="5689600" cy="1593850"/>
          </a:xfrm>
          <a:custGeom>
            <a:avLst/>
            <a:gdLst/>
            <a:ahLst/>
            <a:cxnLst/>
            <a:rect l="l" t="t" r="r" b="b"/>
            <a:pathLst>
              <a:path w="5689600" h="1593850">
                <a:moveTo>
                  <a:pt x="95248" y="0"/>
                </a:moveTo>
                <a:lnTo>
                  <a:pt x="5594352" y="0"/>
                </a:lnTo>
                <a:cubicBezTo>
                  <a:pt x="5646956" y="0"/>
                  <a:pt x="5689600" y="42644"/>
                  <a:pt x="5689600" y="95248"/>
                </a:cubicBezTo>
                <a:lnTo>
                  <a:pt x="5689600" y="1498602"/>
                </a:lnTo>
                <a:cubicBezTo>
                  <a:pt x="5689600" y="1551206"/>
                  <a:pt x="5646956" y="1593850"/>
                  <a:pt x="5594352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gradFill rotWithShape="1" flip="none">
            <a:gsLst>
              <a:gs pos="0">
                <a:srgbClr val="F0FDF4"/>
              </a:gs>
              <a:gs pos="100000">
                <a:srgbClr val="F0FDFA"/>
              </a:gs>
            </a:gsLst>
            <a:lin ang="2700000" scaled="1"/>
          </a:gradFill>
          <a:ln w="10160">
            <a:solidFill>
              <a:srgbClr val="B9F8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6350" y="35750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332" y="29418"/>
                </a:moveTo>
                <a:cubicBezTo>
                  <a:pt x="-769" y="26318"/>
                  <a:pt x="-769" y="21282"/>
                  <a:pt x="2332" y="18182"/>
                </a:cubicBezTo>
                <a:cubicBezTo>
                  <a:pt x="5432" y="15081"/>
                  <a:pt x="10468" y="15081"/>
                  <a:pt x="13568" y="18182"/>
                </a:cubicBezTo>
                <a:lnTo>
                  <a:pt x="53256" y="57869"/>
                </a:lnTo>
                <a:cubicBezTo>
                  <a:pt x="56356" y="60970"/>
                  <a:pt x="56356" y="66005"/>
                  <a:pt x="53256" y="69106"/>
                </a:cubicBezTo>
                <a:lnTo>
                  <a:pt x="13568" y="108793"/>
                </a:lnTo>
                <a:cubicBezTo>
                  <a:pt x="10468" y="111894"/>
                  <a:pt x="5432" y="111894"/>
                  <a:pt x="2332" y="108793"/>
                </a:cubicBezTo>
                <a:cubicBezTo>
                  <a:pt x="-769" y="105693"/>
                  <a:pt x="-769" y="100657"/>
                  <a:pt x="2332" y="97557"/>
                </a:cubicBezTo>
                <a:lnTo>
                  <a:pt x="36388" y="63500"/>
                </a:lnTo>
                <a:lnTo>
                  <a:pt x="2332" y="29418"/>
                </a:lnTo>
                <a:close/>
                <a:moveTo>
                  <a:pt x="55563" y="95250"/>
                </a:move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55563" y="111125"/>
                </a:lnTo>
                <a:cubicBezTo>
                  <a:pt x="51172" y="111125"/>
                  <a:pt x="47625" y="107578"/>
                  <a:pt x="47625" y="103188"/>
                </a:cubicBezTo>
                <a:cubicBezTo>
                  <a:pt x="47625" y="98797"/>
                  <a:pt x="51172" y="95250"/>
                  <a:pt x="55563" y="9525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8" name="Text 56"/>
          <p:cNvSpPr/>
          <p:nvPr/>
        </p:nvSpPr>
        <p:spPr>
          <a:xfrm>
            <a:off x="6499225" y="3543299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Despliegue en 2 Comandos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0475" y="3829049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0F172B"/>
          </a:solidFill>
          <a:ln/>
        </p:spPr>
      </p:sp>
      <p:sp>
        <p:nvSpPr>
          <p:cNvPr id="60" name="Text 58"/>
          <p:cNvSpPr/>
          <p:nvPr/>
        </p:nvSpPr>
        <p:spPr>
          <a:xfrm>
            <a:off x="6435725" y="3924299"/>
            <a:ext cx="10426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Clonar y ejecutar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35725" y="4082952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 clone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&amp;&amp;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cd proyecto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35725" y="4241602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docker-compose up -d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35725" y="4432005"/>
            <a:ext cx="990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Acceder a la API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35725" y="4590654"/>
            <a:ext cx="5222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AD5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http://localhost:8000/docs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8550" y="5108080"/>
            <a:ext cx="2792413" cy="736600"/>
          </a:xfrm>
          <a:custGeom>
            <a:avLst/>
            <a:gdLst/>
            <a:ahLst/>
            <a:cxnLst/>
            <a:rect l="l" t="t" r="r" b="b"/>
            <a:pathLst>
              <a:path w="2792413" h="736600">
                <a:moveTo>
                  <a:pt x="63502" y="0"/>
                </a:moveTo>
                <a:lnTo>
                  <a:pt x="2728910" y="0"/>
                </a:lnTo>
                <a:cubicBezTo>
                  <a:pt x="2763958" y="0"/>
                  <a:pt x="2792413" y="28454"/>
                  <a:pt x="2792413" y="63502"/>
                </a:cubicBezTo>
                <a:lnTo>
                  <a:pt x="2792413" y="673098"/>
                </a:lnTo>
                <a:cubicBezTo>
                  <a:pt x="2792413" y="708146"/>
                  <a:pt x="2763958" y="736600"/>
                  <a:pt x="2728910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EF2FF"/>
          </a:solidFill>
          <a:ln w="10160">
            <a:solidFill>
              <a:srgbClr val="C6D2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29350" y="5206504"/>
            <a:ext cx="269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39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53162" y="5460407"/>
            <a:ext cx="2643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Acierto en fotos de amigos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53162" y="5619056"/>
            <a:ext cx="2643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externa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75738" y="5108080"/>
            <a:ext cx="2792413" cy="736600"/>
          </a:xfrm>
          <a:custGeom>
            <a:avLst/>
            <a:gdLst/>
            <a:ahLst/>
            <a:cxnLst/>
            <a:rect l="l" t="t" r="r" b="b"/>
            <a:pathLst>
              <a:path w="2792413" h="736600">
                <a:moveTo>
                  <a:pt x="63502" y="0"/>
                </a:moveTo>
                <a:lnTo>
                  <a:pt x="2728910" y="0"/>
                </a:lnTo>
                <a:cubicBezTo>
                  <a:pt x="2763958" y="0"/>
                  <a:pt x="2792413" y="28454"/>
                  <a:pt x="2792413" y="63502"/>
                </a:cubicBezTo>
                <a:lnTo>
                  <a:pt x="2792413" y="673098"/>
                </a:lnTo>
                <a:cubicBezTo>
                  <a:pt x="2792413" y="708146"/>
                  <a:pt x="2763958" y="736600"/>
                  <a:pt x="2728910" y="736600"/>
                </a:cubicBezTo>
                <a:lnTo>
                  <a:pt x="63502" y="736600"/>
                </a:lnTo>
                <a:cubicBezTo>
                  <a:pt x="28454" y="736600"/>
                  <a:pt x="0" y="708146"/>
                  <a:pt x="0" y="6730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AF5FF"/>
          </a:solidFill>
          <a:ln w="10160">
            <a:solidFill>
              <a:srgbClr val="E9D4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26538" y="5206504"/>
            <a:ext cx="269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9810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~1.5GB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150350" y="5460407"/>
            <a:ext cx="2643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3141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 Docker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50350" y="5619056"/>
            <a:ext cx="2643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274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Optimizada para CPU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20675" y="6269037"/>
            <a:ext cx="2808288" cy="744538"/>
          </a:xfrm>
          <a:custGeom>
            <a:avLst/>
            <a:gdLst/>
            <a:ahLst/>
            <a:cxnLst/>
            <a:rect l="l" t="t" r="r" b="b"/>
            <a:pathLst>
              <a:path w="2808288" h="744538">
                <a:moveTo>
                  <a:pt x="63502" y="0"/>
                </a:moveTo>
                <a:lnTo>
                  <a:pt x="2744786" y="0"/>
                </a:lnTo>
                <a:cubicBezTo>
                  <a:pt x="2779857" y="0"/>
                  <a:pt x="2808288" y="28431"/>
                  <a:pt x="2808288" y="63502"/>
                </a:cubicBezTo>
                <a:lnTo>
                  <a:pt x="2808288" y="681036"/>
                </a:lnTo>
                <a:cubicBezTo>
                  <a:pt x="2808288" y="716107"/>
                  <a:pt x="2779857" y="744538"/>
                  <a:pt x="2744786" y="744538"/>
                </a:cubicBezTo>
                <a:lnTo>
                  <a:pt x="63502" y="744538"/>
                </a:lnTo>
                <a:cubicBezTo>
                  <a:pt x="28454" y="744538"/>
                  <a:pt x="0" y="716083"/>
                  <a:pt x="0" y="6810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47031" y="6373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75" name="Text 73"/>
          <p:cNvSpPr/>
          <p:nvPr/>
        </p:nvSpPr>
        <p:spPr>
          <a:xfrm>
            <a:off x="391319" y="6596063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Reproducibilidad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95287" y="6786563"/>
            <a:ext cx="2659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Entorno consistente en cualquier máquina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233738" y="6269037"/>
            <a:ext cx="2808288" cy="744538"/>
          </a:xfrm>
          <a:custGeom>
            <a:avLst/>
            <a:gdLst/>
            <a:ahLst/>
            <a:cxnLst/>
            <a:rect l="l" t="t" r="r" b="b"/>
            <a:pathLst>
              <a:path w="2808288" h="744538">
                <a:moveTo>
                  <a:pt x="63502" y="0"/>
                </a:moveTo>
                <a:lnTo>
                  <a:pt x="2744786" y="0"/>
                </a:lnTo>
                <a:cubicBezTo>
                  <a:pt x="2779857" y="0"/>
                  <a:pt x="2808288" y="28431"/>
                  <a:pt x="2808288" y="63502"/>
                </a:cubicBezTo>
                <a:lnTo>
                  <a:pt x="2808288" y="681036"/>
                </a:lnTo>
                <a:cubicBezTo>
                  <a:pt x="2808288" y="716107"/>
                  <a:pt x="2779857" y="744538"/>
                  <a:pt x="2744786" y="744538"/>
                </a:cubicBezTo>
                <a:lnTo>
                  <a:pt x="63502" y="744538"/>
                </a:lnTo>
                <a:cubicBezTo>
                  <a:pt x="28454" y="744538"/>
                  <a:pt x="0" y="716083"/>
                  <a:pt x="0" y="6810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0016" y="6373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2090" y="9922"/>
                </a:moveTo>
                <a:lnTo>
                  <a:pt x="7441" y="9922"/>
                </a:lnTo>
                <a:cubicBezTo>
                  <a:pt x="3318" y="9922"/>
                  <a:pt x="0" y="13240"/>
                  <a:pt x="0" y="17363"/>
                </a:cubicBezTo>
                <a:lnTo>
                  <a:pt x="0" y="62012"/>
                </a:lnTo>
                <a:cubicBezTo>
                  <a:pt x="0" y="65019"/>
                  <a:pt x="1798" y="67748"/>
                  <a:pt x="4589" y="68895"/>
                </a:cubicBezTo>
                <a:cubicBezTo>
                  <a:pt x="7379" y="70042"/>
                  <a:pt x="10573" y="69391"/>
                  <a:pt x="12712" y="67283"/>
                </a:cubicBezTo>
                <a:lnTo>
                  <a:pt x="25115" y="54880"/>
                </a:lnTo>
                <a:lnTo>
                  <a:pt x="49609" y="79375"/>
                </a:lnTo>
                <a:lnTo>
                  <a:pt x="25115" y="103870"/>
                </a:lnTo>
                <a:lnTo>
                  <a:pt x="12712" y="91467"/>
                </a:lnTo>
                <a:cubicBezTo>
                  <a:pt x="10573" y="89328"/>
                  <a:pt x="7379" y="88708"/>
                  <a:pt x="4589" y="89855"/>
                </a:cubicBezTo>
                <a:cubicBezTo>
                  <a:pt x="1798" y="91002"/>
                  <a:pt x="0" y="93731"/>
                  <a:pt x="0" y="96738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lnTo>
                  <a:pt x="52090" y="148828"/>
                </a:lnTo>
                <a:cubicBezTo>
                  <a:pt x="55097" y="148828"/>
                  <a:pt x="57826" y="147030"/>
                  <a:pt x="58973" y="144239"/>
                </a:cubicBezTo>
                <a:cubicBezTo>
                  <a:pt x="60120" y="141449"/>
                  <a:pt x="59500" y="138255"/>
                  <a:pt x="57361" y="136116"/>
                </a:cubicBezTo>
                <a:lnTo>
                  <a:pt x="44958" y="123713"/>
                </a:lnTo>
                <a:lnTo>
                  <a:pt x="69453" y="99219"/>
                </a:lnTo>
                <a:lnTo>
                  <a:pt x="93948" y="123713"/>
                </a:lnTo>
                <a:lnTo>
                  <a:pt x="81545" y="136116"/>
                </a:lnTo>
                <a:cubicBezTo>
                  <a:pt x="79406" y="138255"/>
                  <a:pt x="78786" y="141449"/>
                  <a:pt x="79933" y="144239"/>
                </a:cubicBezTo>
                <a:cubicBezTo>
                  <a:pt x="81080" y="147030"/>
                  <a:pt x="83809" y="148828"/>
                  <a:pt x="86816" y="148828"/>
                </a:cubicBezTo>
                <a:lnTo>
                  <a:pt x="131465" y="148828"/>
                </a:lnTo>
                <a:cubicBezTo>
                  <a:pt x="135589" y="148828"/>
                  <a:pt x="138906" y="145510"/>
                  <a:pt x="138906" y="141387"/>
                </a:cubicBezTo>
                <a:lnTo>
                  <a:pt x="138906" y="96738"/>
                </a:lnTo>
                <a:cubicBezTo>
                  <a:pt x="138906" y="93731"/>
                  <a:pt x="137108" y="91002"/>
                  <a:pt x="134317" y="89855"/>
                </a:cubicBezTo>
                <a:cubicBezTo>
                  <a:pt x="131527" y="88708"/>
                  <a:pt x="128333" y="89328"/>
                  <a:pt x="126194" y="91467"/>
                </a:cubicBezTo>
                <a:lnTo>
                  <a:pt x="113792" y="103870"/>
                </a:lnTo>
                <a:lnTo>
                  <a:pt x="89297" y="79375"/>
                </a:lnTo>
                <a:lnTo>
                  <a:pt x="113792" y="54880"/>
                </a:lnTo>
                <a:lnTo>
                  <a:pt x="126194" y="67283"/>
                </a:lnTo>
                <a:cubicBezTo>
                  <a:pt x="128333" y="69422"/>
                  <a:pt x="131527" y="70042"/>
                  <a:pt x="134317" y="68895"/>
                </a:cubicBezTo>
                <a:cubicBezTo>
                  <a:pt x="137108" y="67748"/>
                  <a:pt x="138906" y="65019"/>
                  <a:pt x="138906" y="62012"/>
                </a:cubicBezTo>
                <a:lnTo>
                  <a:pt x="138906" y="17363"/>
                </a:lnTo>
                <a:cubicBezTo>
                  <a:pt x="138906" y="13240"/>
                  <a:pt x="135589" y="9922"/>
                  <a:pt x="131465" y="9922"/>
                </a:cubicBezTo>
                <a:lnTo>
                  <a:pt x="86816" y="9922"/>
                </a:lnTo>
                <a:cubicBezTo>
                  <a:pt x="83809" y="9922"/>
                  <a:pt x="81080" y="11720"/>
                  <a:pt x="79933" y="14511"/>
                </a:cubicBezTo>
                <a:cubicBezTo>
                  <a:pt x="78786" y="17301"/>
                  <a:pt x="79437" y="20495"/>
                  <a:pt x="81545" y="22634"/>
                </a:cubicBezTo>
                <a:lnTo>
                  <a:pt x="93948" y="35037"/>
                </a:lnTo>
                <a:lnTo>
                  <a:pt x="69453" y="59531"/>
                </a:lnTo>
                <a:lnTo>
                  <a:pt x="44958" y="35037"/>
                </a:lnTo>
                <a:lnTo>
                  <a:pt x="57361" y="22634"/>
                </a:lnTo>
                <a:cubicBezTo>
                  <a:pt x="59500" y="20495"/>
                  <a:pt x="60120" y="17301"/>
                  <a:pt x="58973" y="14511"/>
                </a:cubicBezTo>
                <a:cubicBezTo>
                  <a:pt x="57826" y="11720"/>
                  <a:pt x="55097" y="9922"/>
                  <a:pt x="52090" y="992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9" name="Text 77"/>
          <p:cNvSpPr/>
          <p:nvPr/>
        </p:nvSpPr>
        <p:spPr>
          <a:xfrm>
            <a:off x="3304381" y="6596063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308350" y="6786563"/>
            <a:ext cx="2659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Listo para AWS ECS, GCP, Azure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146800" y="6269037"/>
            <a:ext cx="2808288" cy="744538"/>
          </a:xfrm>
          <a:custGeom>
            <a:avLst/>
            <a:gdLst/>
            <a:ahLst/>
            <a:cxnLst/>
            <a:rect l="l" t="t" r="r" b="b"/>
            <a:pathLst>
              <a:path w="2808288" h="744538">
                <a:moveTo>
                  <a:pt x="63502" y="0"/>
                </a:moveTo>
                <a:lnTo>
                  <a:pt x="2744786" y="0"/>
                </a:lnTo>
                <a:cubicBezTo>
                  <a:pt x="2779857" y="0"/>
                  <a:pt x="2808288" y="28431"/>
                  <a:pt x="2808288" y="63502"/>
                </a:cubicBezTo>
                <a:lnTo>
                  <a:pt x="2808288" y="681036"/>
                </a:lnTo>
                <a:cubicBezTo>
                  <a:pt x="2808288" y="716107"/>
                  <a:pt x="2779857" y="744538"/>
                  <a:pt x="2744786" y="744538"/>
                </a:cubicBezTo>
                <a:lnTo>
                  <a:pt x="63502" y="744538"/>
                </a:lnTo>
                <a:cubicBezTo>
                  <a:pt x="28454" y="744538"/>
                  <a:pt x="0" y="716083"/>
                  <a:pt x="0" y="6810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83078" y="6373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158750"/>
                </a:moveTo>
                <a:lnTo>
                  <a:pt x="29766" y="158750"/>
                </a:lnTo>
                <a:cubicBezTo>
                  <a:pt x="13333" y="158750"/>
                  <a:pt x="0" y="145417"/>
                  <a:pt x="0" y="128984"/>
                </a:cubicBezTo>
                <a:lnTo>
                  <a:pt x="0" y="29766"/>
                </a:lnTo>
                <a:cubicBezTo>
                  <a:pt x="0" y="13333"/>
                  <a:pt x="13333" y="0"/>
                  <a:pt x="29766" y="0"/>
                </a:cubicBezTo>
                <a:lnTo>
                  <a:pt x="124023" y="0"/>
                </a:lnTo>
                <a:cubicBezTo>
                  <a:pt x="132240" y="0"/>
                  <a:pt x="138906" y="6666"/>
                  <a:pt x="138906" y="14883"/>
                </a:cubicBezTo>
                <a:lnTo>
                  <a:pt x="138906" y="104180"/>
                </a:lnTo>
                <a:cubicBezTo>
                  <a:pt x="138906" y="110660"/>
                  <a:pt x="134751" y="116179"/>
                  <a:pt x="128984" y="118225"/>
                </a:cubicBez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119062" y="158750"/>
                </a:lnTo>
                <a:close/>
                <a:moveTo>
                  <a:pt x="29766" y="119062"/>
                </a:move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109141" y="138906"/>
                </a:lnTo>
                <a:lnTo>
                  <a:pt x="109141" y="119062"/>
                </a:lnTo>
                <a:lnTo>
                  <a:pt x="29766" y="119062"/>
                </a:lnTo>
                <a:close/>
                <a:moveTo>
                  <a:pt x="39688" y="47129"/>
                </a:moveTo>
                <a:cubicBezTo>
                  <a:pt x="39688" y="51253"/>
                  <a:pt x="43005" y="54570"/>
                  <a:pt x="47129" y="54570"/>
                </a:cubicBezTo>
                <a:lnTo>
                  <a:pt x="101699" y="54570"/>
                </a:lnTo>
                <a:cubicBezTo>
                  <a:pt x="105823" y="54570"/>
                  <a:pt x="109141" y="51253"/>
                  <a:pt x="109141" y="47129"/>
                </a:cubicBezTo>
                <a:cubicBezTo>
                  <a:pt x="109141" y="43005"/>
                  <a:pt x="105823" y="39688"/>
                  <a:pt x="101699" y="39688"/>
                </a:cubicBezTo>
                <a:lnTo>
                  <a:pt x="47129" y="39688"/>
                </a:lnTo>
                <a:cubicBezTo>
                  <a:pt x="43005" y="39688"/>
                  <a:pt x="39688" y="43005"/>
                  <a:pt x="39688" y="47129"/>
                </a:cubicBezTo>
                <a:close/>
                <a:moveTo>
                  <a:pt x="47129" y="69453"/>
                </a:moveTo>
                <a:cubicBezTo>
                  <a:pt x="43005" y="69453"/>
                  <a:pt x="39688" y="72771"/>
                  <a:pt x="39688" y="76895"/>
                </a:cubicBezTo>
                <a:cubicBezTo>
                  <a:pt x="39688" y="81018"/>
                  <a:pt x="43005" y="84336"/>
                  <a:pt x="47129" y="84336"/>
                </a:cubicBezTo>
                <a:lnTo>
                  <a:pt x="101699" y="84336"/>
                </a:lnTo>
                <a:cubicBezTo>
                  <a:pt x="105823" y="84336"/>
                  <a:pt x="109141" y="81018"/>
                  <a:pt x="109141" y="76895"/>
                </a:cubicBezTo>
                <a:cubicBezTo>
                  <a:pt x="109141" y="72771"/>
                  <a:pt x="105823" y="69453"/>
                  <a:pt x="101699" y="69453"/>
                </a:cubicBezTo>
                <a:lnTo>
                  <a:pt x="47129" y="69453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83" name="Text 81"/>
          <p:cNvSpPr/>
          <p:nvPr/>
        </p:nvSpPr>
        <p:spPr>
          <a:xfrm>
            <a:off x="6217444" y="6596063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221412" y="6786563"/>
            <a:ext cx="2659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UI automático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059863" y="6269037"/>
            <a:ext cx="2808288" cy="744538"/>
          </a:xfrm>
          <a:custGeom>
            <a:avLst/>
            <a:gdLst/>
            <a:ahLst/>
            <a:cxnLst/>
            <a:rect l="l" t="t" r="r" b="b"/>
            <a:pathLst>
              <a:path w="2808288" h="744538">
                <a:moveTo>
                  <a:pt x="63502" y="0"/>
                </a:moveTo>
                <a:lnTo>
                  <a:pt x="2744786" y="0"/>
                </a:lnTo>
                <a:cubicBezTo>
                  <a:pt x="2779857" y="0"/>
                  <a:pt x="2808288" y="28431"/>
                  <a:pt x="2808288" y="63502"/>
                </a:cubicBezTo>
                <a:lnTo>
                  <a:pt x="2808288" y="681036"/>
                </a:lnTo>
                <a:cubicBezTo>
                  <a:pt x="2808288" y="716107"/>
                  <a:pt x="2779857" y="744538"/>
                  <a:pt x="2744786" y="744538"/>
                </a:cubicBezTo>
                <a:lnTo>
                  <a:pt x="63502" y="744538"/>
                </a:lnTo>
                <a:cubicBezTo>
                  <a:pt x="28454" y="744538"/>
                  <a:pt x="0" y="716083"/>
                  <a:pt x="0" y="6810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66375" y="6373813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73726" y="73546"/>
                </a:moveTo>
                <a:cubicBezTo>
                  <a:pt x="176950" y="77205"/>
                  <a:pt x="182500" y="78011"/>
                  <a:pt x="186686" y="75251"/>
                </a:cubicBezTo>
                <a:cubicBezTo>
                  <a:pt x="191244" y="72213"/>
                  <a:pt x="192484" y="66042"/>
                  <a:pt x="189446" y="61485"/>
                </a:cubicBezTo>
                <a:lnTo>
                  <a:pt x="174563" y="39160"/>
                </a:lnTo>
                <a:cubicBezTo>
                  <a:pt x="173695" y="37858"/>
                  <a:pt x="172517" y="36773"/>
                  <a:pt x="171121" y="35998"/>
                </a:cubicBezTo>
                <a:lnTo>
                  <a:pt x="108955" y="1457"/>
                </a:lnTo>
                <a:cubicBezTo>
                  <a:pt x="102970" y="-1860"/>
                  <a:pt x="95684" y="-1860"/>
                  <a:pt x="89669" y="1457"/>
                </a:cubicBezTo>
                <a:lnTo>
                  <a:pt x="27533" y="35967"/>
                </a:lnTo>
                <a:cubicBezTo>
                  <a:pt x="25859" y="36897"/>
                  <a:pt x="24526" y="38261"/>
                  <a:pt x="23626" y="39936"/>
                </a:cubicBezTo>
                <a:lnTo>
                  <a:pt x="8589" y="67810"/>
                </a:lnTo>
                <a:cubicBezTo>
                  <a:pt x="4682" y="75065"/>
                  <a:pt x="7410" y="84088"/>
                  <a:pt x="14666" y="87995"/>
                </a:cubicBezTo>
                <a:lnTo>
                  <a:pt x="24898" y="93483"/>
                </a:lnTo>
                <a:lnTo>
                  <a:pt x="24898" y="110009"/>
                </a:lnTo>
                <a:cubicBezTo>
                  <a:pt x="24898" y="117140"/>
                  <a:pt x="28742" y="123744"/>
                  <a:pt x="34944" y="127279"/>
                </a:cubicBezTo>
                <a:lnTo>
                  <a:pt x="89514" y="158192"/>
                </a:lnTo>
                <a:cubicBezTo>
                  <a:pt x="95591" y="161634"/>
                  <a:pt x="103001" y="161634"/>
                  <a:pt x="109079" y="158192"/>
                </a:cubicBezTo>
                <a:lnTo>
                  <a:pt x="163649" y="127279"/>
                </a:lnTo>
                <a:cubicBezTo>
                  <a:pt x="169881" y="123744"/>
                  <a:pt x="173695" y="117171"/>
                  <a:pt x="173695" y="110009"/>
                </a:cubicBezTo>
                <a:lnTo>
                  <a:pt x="173695" y="73577"/>
                </a:lnTo>
                <a:close/>
                <a:moveTo>
                  <a:pt x="99312" y="70507"/>
                </a:moveTo>
                <a:lnTo>
                  <a:pt x="52772" y="44648"/>
                </a:lnTo>
                <a:lnTo>
                  <a:pt x="99312" y="18790"/>
                </a:lnTo>
                <a:lnTo>
                  <a:pt x="145852" y="44648"/>
                </a:lnTo>
                <a:lnTo>
                  <a:pt x="99312" y="70507"/>
                </a:lnTo>
                <a:close/>
                <a:moveTo>
                  <a:pt x="86444" y="86072"/>
                </a:moveTo>
                <a:lnTo>
                  <a:pt x="79840" y="100397"/>
                </a:lnTo>
                <a:lnTo>
                  <a:pt x="28432" y="72864"/>
                </a:lnTo>
                <a:lnTo>
                  <a:pt x="36308" y="58229"/>
                </a:lnTo>
                <a:lnTo>
                  <a:pt x="86444" y="86072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87" name="Text 85"/>
          <p:cNvSpPr/>
          <p:nvPr/>
        </p:nvSpPr>
        <p:spPr>
          <a:xfrm>
            <a:off x="9130507" y="6596063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29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Portabilidad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134475" y="6786563"/>
            <a:ext cx="2659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45556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Windows, Linux, macOS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B"/>
              </a:gs>
              <a:gs pos="50000">
                <a:srgbClr val="312C85"/>
              </a:gs>
              <a:gs pos="100000">
                <a:srgbClr val="59168B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1371600" y="0"/>
                </a:moveTo>
                <a:lnTo>
                  <a:pt x="1371600" y="0"/>
                </a:lnTo>
                <a:cubicBezTo>
                  <a:pt x="2128607" y="0"/>
                  <a:pt x="2743200" y="614593"/>
                  <a:pt x="2743200" y="1371600"/>
                </a:cubicBezTo>
                <a:lnTo>
                  <a:pt x="2743200" y="1371600"/>
                </a:lnTo>
                <a:cubicBezTo>
                  <a:pt x="2743200" y="2128607"/>
                  <a:pt x="2128607" y="2743200"/>
                  <a:pt x="1371600" y="2743200"/>
                </a:cubicBezTo>
                <a:lnTo>
                  <a:pt x="1371600" y="2743200"/>
                </a:lnTo>
                <a:cubicBezTo>
                  <a:pt x="614593" y="2743200"/>
                  <a:pt x="0" y="2128607"/>
                  <a:pt x="0" y="1371600"/>
                </a:cubicBezTo>
                <a:lnTo>
                  <a:pt x="0" y="1371600"/>
                </a:lnTo>
                <a:cubicBezTo>
                  <a:pt x="0" y="614593"/>
                  <a:pt x="614593" y="0"/>
                  <a:pt x="13716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53400" y="28194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724022"/>
            <a:ext cx="2503170" cy="464820"/>
          </a:xfrm>
          <a:custGeom>
            <a:avLst/>
            <a:gdLst/>
            <a:ahLst/>
            <a:cxnLst/>
            <a:rect l="l" t="t" r="r" b="b"/>
            <a:pathLst>
              <a:path w="2503170" h="464820">
                <a:moveTo>
                  <a:pt x="232410" y="0"/>
                </a:moveTo>
                <a:lnTo>
                  <a:pt x="2270760" y="0"/>
                </a:lnTo>
                <a:cubicBezTo>
                  <a:pt x="2399116" y="0"/>
                  <a:pt x="2503170" y="104054"/>
                  <a:pt x="2503170" y="232410"/>
                </a:cubicBezTo>
                <a:lnTo>
                  <a:pt x="2503170" y="232410"/>
                </a:lnTo>
                <a:cubicBezTo>
                  <a:pt x="2503170" y="360766"/>
                  <a:pt x="2399116" y="464820"/>
                  <a:pt x="2270760" y="464820"/>
                </a:cubicBezTo>
                <a:lnTo>
                  <a:pt x="232410" y="464820"/>
                </a:lnTo>
                <a:cubicBezTo>
                  <a:pt x="104054" y="464820"/>
                  <a:pt x="0" y="360766"/>
                  <a:pt x="0" y="232410"/>
                </a:cubicBezTo>
                <a:lnTo>
                  <a:pt x="0" y="232410"/>
                </a:lnTo>
                <a:cubicBezTo>
                  <a:pt x="0" y="104054"/>
                  <a:pt x="104053" y="0"/>
                  <a:pt x="2324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0636" y="8611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7" name="Text 5"/>
          <p:cNvSpPr/>
          <p:nvPr/>
        </p:nvSpPr>
        <p:spPr>
          <a:xfrm>
            <a:off x="5393055" y="84213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30" kern="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6700" y="134504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 que traigo al equipo de Advanced Analytics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375" y="1916548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Visión completa del ciclo de vida de datos y ML productivo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415658"/>
            <a:ext cx="2160270" cy="1569720"/>
          </a:xfrm>
          <a:custGeom>
            <a:avLst/>
            <a:gdLst/>
            <a:ahLst/>
            <a:cxnLst/>
            <a:rect l="l" t="t" r="r" b="b"/>
            <a:pathLst>
              <a:path w="2160270" h="1569720">
                <a:moveTo>
                  <a:pt x="114307" y="0"/>
                </a:moveTo>
                <a:lnTo>
                  <a:pt x="2045963" y="0"/>
                </a:lnTo>
                <a:cubicBezTo>
                  <a:pt x="2109051" y="0"/>
                  <a:pt x="2160270" y="51219"/>
                  <a:pt x="2160270" y="114307"/>
                </a:cubicBezTo>
                <a:lnTo>
                  <a:pt x="2160270" y="1455413"/>
                </a:lnTo>
                <a:cubicBezTo>
                  <a:pt x="2160270" y="1518501"/>
                  <a:pt x="2109051" y="1569720"/>
                  <a:pt x="2045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340" y="257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B7FFF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3028" y="272427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8EC5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1957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445" y="352437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MTCNN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47,994 imágenes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01290" y="2415658"/>
            <a:ext cx="2160270" cy="1569720"/>
          </a:xfrm>
          <a:custGeom>
            <a:avLst/>
            <a:gdLst/>
            <a:ahLst/>
            <a:cxnLst/>
            <a:rect l="l" t="t" r="r" b="b"/>
            <a:pathLst>
              <a:path w="2160270" h="1569720">
                <a:moveTo>
                  <a:pt x="114307" y="0"/>
                </a:moveTo>
                <a:lnTo>
                  <a:pt x="2045963" y="0"/>
                </a:lnTo>
                <a:cubicBezTo>
                  <a:pt x="2109051" y="0"/>
                  <a:pt x="2160270" y="51219"/>
                  <a:pt x="2160270" y="114307"/>
                </a:cubicBezTo>
                <a:lnTo>
                  <a:pt x="2160270" y="1455413"/>
                </a:lnTo>
                <a:cubicBezTo>
                  <a:pt x="2160270" y="1518501"/>
                  <a:pt x="2109051" y="1569720"/>
                  <a:pt x="2045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2820" y="257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D46F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65220" y="27242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AB2FF"/>
          </a:solidFill>
          <a:ln/>
        </p:spPr>
      </p:sp>
      <p:sp>
        <p:nvSpPr>
          <p:cNvPr id="18" name="Text 16"/>
          <p:cNvSpPr/>
          <p:nvPr/>
        </p:nvSpPr>
        <p:spPr>
          <a:xfrm>
            <a:off x="2819400" y="321957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28925" y="352437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 + Transfer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ResNet18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17770" y="2415658"/>
            <a:ext cx="2160270" cy="1569720"/>
          </a:xfrm>
          <a:custGeom>
            <a:avLst/>
            <a:gdLst/>
            <a:ahLst/>
            <a:cxnLst/>
            <a:rect l="l" t="t" r="r" b="b"/>
            <a:pathLst>
              <a:path w="2160270" h="1569720">
                <a:moveTo>
                  <a:pt x="114307" y="0"/>
                </a:moveTo>
                <a:lnTo>
                  <a:pt x="2045963" y="0"/>
                </a:lnTo>
                <a:cubicBezTo>
                  <a:pt x="2109051" y="0"/>
                  <a:pt x="2160270" y="51219"/>
                  <a:pt x="2160270" y="114307"/>
                </a:cubicBezTo>
                <a:lnTo>
                  <a:pt x="2160270" y="1455413"/>
                </a:lnTo>
                <a:cubicBezTo>
                  <a:pt x="2160270" y="1518501"/>
                  <a:pt x="2109051" y="1569720"/>
                  <a:pt x="2045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9300" y="257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6339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53125" y="272427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FDA5D5"/>
          </a:solidFill>
          <a:ln/>
        </p:spPr>
      </p:sp>
      <p:sp>
        <p:nvSpPr>
          <p:cNvPr id="23" name="Text 21"/>
          <p:cNvSpPr/>
          <p:nvPr/>
        </p:nvSpPr>
        <p:spPr>
          <a:xfrm>
            <a:off x="5135880" y="321957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Métricas de Negocio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45405" y="352437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 84/16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AUC-ROC 0.93-0.95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34250" y="2415658"/>
            <a:ext cx="2160270" cy="1569720"/>
          </a:xfrm>
          <a:custGeom>
            <a:avLst/>
            <a:gdLst/>
            <a:ahLst/>
            <a:cxnLst/>
            <a:rect l="l" t="t" r="r" b="b"/>
            <a:pathLst>
              <a:path w="2160270" h="1569720">
                <a:moveTo>
                  <a:pt x="114307" y="0"/>
                </a:moveTo>
                <a:lnTo>
                  <a:pt x="2045963" y="0"/>
                </a:lnTo>
                <a:cubicBezTo>
                  <a:pt x="2109051" y="0"/>
                  <a:pt x="2160270" y="51219"/>
                  <a:pt x="2160270" y="114307"/>
                </a:cubicBezTo>
                <a:lnTo>
                  <a:pt x="2160270" y="1455413"/>
                </a:lnTo>
                <a:cubicBezTo>
                  <a:pt x="2160270" y="1518501"/>
                  <a:pt x="2109051" y="1569720"/>
                  <a:pt x="2045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5780" y="257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BA7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83893" y="272427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46ECD5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321957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XAI &amp; Auditoría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61885" y="352437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Grad-CAM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50730" y="2415658"/>
            <a:ext cx="2160270" cy="1569720"/>
          </a:xfrm>
          <a:custGeom>
            <a:avLst/>
            <a:gdLst/>
            <a:ahLst/>
            <a:cxnLst/>
            <a:rect l="l" t="t" r="r" b="b"/>
            <a:pathLst>
              <a:path w="2160270" h="1569720">
                <a:moveTo>
                  <a:pt x="114307" y="0"/>
                </a:moveTo>
                <a:lnTo>
                  <a:pt x="2045963" y="0"/>
                </a:lnTo>
                <a:cubicBezTo>
                  <a:pt x="2109051" y="0"/>
                  <a:pt x="2160270" y="51219"/>
                  <a:pt x="2160270" y="114307"/>
                </a:cubicBezTo>
                <a:lnTo>
                  <a:pt x="2160270" y="1455413"/>
                </a:lnTo>
                <a:cubicBezTo>
                  <a:pt x="2160270" y="1518501"/>
                  <a:pt x="2109051" y="1569720"/>
                  <a:pt x="2045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62260" y="257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C950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14660" y="272427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7BF1A8"/>
          </a:solidFill>
          <a:ln/>
        </p:spPr>
      </p:sp>
      <p:sp>
        <p:nvSpPr>
          <p:cNvPr id="33" name="Text 31"/>
          <p:cNvSpPr/>
          <p:nvPr/>
        </p:nvSpPr>
        <p:spPr>
          <a:xfrm>
            <a:off x="9768840" y="321957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MLOps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78365" y="352437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 + Docker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Producción-ready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4221362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95701" y="45299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7" name="Text 35"/>
          <p:cNvSpPr/>
          <p:nvPr/>
        </p:nvSpPr>
        <p:spPr>
          <a:xfrm>
            <a:off x="2167176" y="430137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167176" y="466332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 dato crudo al modelo productivo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06885" y="441567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49786" y="45299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1" name="Text 39"/>
          <p:cNvSpPr/>
          <p:nvPr/>
        </p:nvSpPr>
        <p:spPr>
          <a:xfrm>
            <a:off x="5304949" y="430137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261" y="4663320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sistemática de arquitecturas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975759" y="441567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18659" y="45299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5" name="Text 43"/>
          <p:cNvSpPr/>
          <p:nvPr/>
        </p:nvSpPr>
        <p:spPr>
          <a:xfrm>
            <a:off x="8589645" y="430137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90134" y="466332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Containerizado y cloud-ready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54605" y="5299593"/>
            <a:ext cx="3286125" cy="838200"/>
          </a:xfrm>
          <a:custGeom>
            <a:avLst/>
            <a:gdLst/>
            <a:ahLst/>
            <a:cxnLst/>
            <a:rect l="l" t="t" r="r" b="b"/>
            <a:pathLst>
              <a:path w="3286125" h="838200">
                <a:moveTo>
                  <a:pt x="114297" y="0"/>
                </a:moveTo>
                <a:lnTo>
                  <a:pt x="3171828" y="0"/>
                </a:lnTo>
                <a:cubicBezTo>
                  <a:pt x="3234953" y="0"/>
                  <a:pt x="3286125" y="51172"/>
                  <a:pt x="3286125" y="114297"/>
                </a:cubicBezTo>
                <a:lnTo>
                  <a:pt x="3286125" y="723903"/>
                </a:lnTo>
                <a:cubicBezTo>
                  <a:pt x="3286125" y="787028"/>
                  <a:pt x="3234953" y="838200"/>
                  <a:pt x="31718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F6339A"/>
              </a:gs>
            </a:gsLst>
            <a:lin ang="0" scaled="1"/>
          </a:gradFill>
          <a:ln/>
        </p:spPr>
      </p:sp>
      <p:sp>
        <p:nvSpPr>
          <p:cNvPr id="48" name="Text 46"/>
          <p:cNvSpPr/>
          <p:nvPr/>
        </p:nvSpPr>
        <p:spPr>
          <a:xfrm>
            <a:off x="4710113" y="5299593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Listo para contribuir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721305" y="575679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 • NLP • ML Productivo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Deepfakes - Pipeline End-to-End de Data Engineering a MLOps</dc:title>
  <dc:subject>Detección de Deepfakes - Pipeline End-to-End de Data Engineering a MLOps</dc:subject>
  <dc:creator>Kimi</dc:creator>
  <cp:lastModifiedBy>Kimi</cp:lastModifiedBy>
  <cp:revision>1</cp:revision>
  <dcterms:created xsi:type="dcterms:W3CDTF">2026-03-24T17:56:29Z</dcterms:created>
  <dcterms:modified xsi:type="dcterms:W3CDTF">2026-03-24T17:56:29Z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{"Label":"Detección de Deepfakes - Pipeline End-to-End de Data Engineering a MLOps","ContentProducer":"001191110108MACG2KBH8F10000","ProduceID":"19d20e98-8bd2-8418-8000-000062466a89","ReservedCode1":"","ContentPropagator":"001191110108MACG2KBH8F20000","PropagateID":"19d20e98-8bd2-8418-8000-000062466a89","ReservedCode2":""}</vt:lpwstr>
  </property>
</Properties>
</file>